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dce0e7b-3ceb-0288-7e21-ccd83bd63470}">
          <p14:sldIdLst>
            <p14:sldId id="256"/>
            <p14:sldId id="257"/>
          </p14:sldIdLst>
        </p14:section>
        <p14:section name="Why Fabric" id="{b378cb68-4f5f-933b-72fa-2caadb35fc7a}">
          <p14:sldIdLst>
            <p14:sldId id="258"/>
            <p14:sldId id="259"/>
          </p14:sldIdLst>
        </p14:section>
        <p14:section name="OneLake" id="{a170093d-a51b-5f83-beb9-4ecec1c40bee}">
          <p14:sldIdLst>
            <p14:sldId id="260"/>
            <p14:sldId id="261"/>
          </p14:sldIdLst>
        </p14:section>
        <p14:section name="Copilot" id="{c7f6c80a-e300-94e3-2565-f5fd58ee75bb}">
          <p14:sldIdLst>
            <p14:sldId id="262"/>
          </p14:sldIdLst>
        </p14:section>
        <p14:section name="Fabric IQ" id="{f2dedefa-0499-94bc-4e89-abe9b4800cc3}">
          <p14:sldIdLst>
            <p14:sldId id="263"/>
            <p14:sldId id="264"/>
            <p14:sldId id="265"/>
          </p14:sldIdLst>
        </p14:section>
        <p14:section name="SATORP labs" id="{e6d137ac-a631-bb81-a1f1-fe4c7ff8b240}">
          <p14:sldIdLst>
            <p14:sldId id="266"/>
            <p14:sldId id="267"/>
          </p14:sldIdLst>
        </p14:section>
        <p14:section name="Next steps" id="{fd50d4cd-5a0d-bcc6-c8ec-509a6a83c6a5}">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is about one practical outcome: getting reliability and operations questions answered faster, from one trusted data foundation. We'll cover three things: OneLake, the single data lake under Fabric; Copilot in Fabric; and Fabric IQ, which teaches Fabric the language of the plant. Each topic has a short, simple lab. All lab data is fictional sample data shaped like a refinery. It is not SATORP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labs, each building on the last. Lab 1 lands the data in OneLake. Lab 2 uses Copilot to analyse it and build the business layer. Lab 3 adds Fabric IQ, an ontology, so people can ask questions in the plant's own language through a data agent. Total hands-on time is about two and a half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typical refinery picture, not a description of SATORP's systems. Production numbers, maintenance records and downtime notes live in different places. Every cross-cutting question means exports and manual joins, and different teams end up with different answers. The goal is one governed copy of the data, shared definitions, and AI that helps, all of which we'll see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Fabric is one SaaS platform. At the bottom is OneLake: every workload stores data there, once, in open Delta Parquet format. On top sit the familiar experiences: Data Factory, Data Engineering, Warehouse, Real-Time Intelligence and Power BI. Fabric IQ adds business meaning: semantic models, the ontology, graph, and data and operations agents. Copilot runs across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ideas to remember. One lake per organisation, like OneDrive for data. One copy: shortcuts let a team use data that another team or another cloud already owns, without duplicating it. Open format: tables are Delta Parquet, so every engine reads the same files. In Lab 1 you'll see all three in under an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shortcut is a pointer, not a copy. In Lab 1 the reliability team keeps ownership of downtime data in their lakehouse, and the production lakehouse uses it through a shortcut. The same works for external storage such as ADLS Gen2, Amazon S3, Google Cloud Storage or Dataverse. The OneLake catalog is where people discover trusted data and where owners govern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is built into each Fabric experience. In notebooks it writes and explains code. In Data Factory it builds transformations. In Power BI it creates report pages and summaries. Data agents give business users natural-language Q&amp;A. Practical requirement: a paid capacity, F2 or higher or Premium P1, with the Copilot tenant settings on. Trial capacities do not support Copilot. Lab 2 uses notebooks and Power 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Fabric IQ adds business meaning on top of the data. OneLake is the foundation; semantic models hold measures for BI; the ontology, currently in preview, describes the business itself in entity types and relationships; and agents use all of that to answer and act. The key benefit: define a term like 'unplanned downtime' once, and every agent and report uses the same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ontology learners build in Lab 3. Five entity types: Unit, Equipment, Work Order, Downtime Event and Production Record, bound to the lakehouse tables from Lab 1, including the shortcut. Relationships capture how a reliability engineer thinks: a unit has equipment, equipment has work orders and caused downtime. The last relationship is added by describing it to the ontology agent, which proposes a plan before acting.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happens when someone asks a question. The data agent uses the ontology to understand the business terms, generates a query against the bound data, and returns a short answer. Crucially, users can see the generated query, and a well-instructed agent says clearly when the data doesn't contain the answer. In the lab we test that with a profit-margin question it should refuse.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to end: four sample sources land in two lakehouses, connected by a shortcut. The business layer is a semantic model with five measures and an ontology with four relationships. People consume it through a Copilot notebook, a Power BI report and a data agent, which can later be surfaced in Teams through Copilot Studio. Be clear with participants that this is fictional sample data; real SATORP data would be onboarded through approved pipelines.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lab is short and has a checkpoint you can verify against the answer key. Lab 1 shows the FCC has the lowest attainment. Lab 2 finds the mid-September dip and its catalyst-issue cause. Lab 3 lets anyone ask those questions in plain English. Most numbers in the answer key are rounded; small differences are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prerequisites. A paid capacity, F2 or above, because trial capacities don't support Copilot. The admin needs to enable the tenant settings for creating Fabric items, Copilot, ontology and data agents. For SATORP specifically, review the setting that allows AI processing outside the capacity's geography with your compliance team before enabling it. Remember that ontology is in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suggested, not prescriptive, path. Start by landing priority reliability data in OneLake, using shortcuts wherever data already lives, and certify one semantic model. Then roll out Copilot to engineers and build the reliability ontology with a pilot data agent. Finally, bring the agent into Teams through Copilot Studio and use operations agents on real-time data. Each phase is gated by data owners and IT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and move into the labs. Point participants to the README in the GitHub repo, confirm everyone is in a workspace on a paid capacity, and start Lab 1. Take questions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A2F3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768096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971800"/>
            <a:ext cx="7680960" cy="914400"/>
          </a:xfrm>
          <a:prstGeom prst="rect">
            <a:avLst/>
          </a:prstGeom>
          <a:noFill/>
          <a:ln/>
        </p:spPr>
        <p:txBody>
          <a:bodyPr wrap="square" rtlCol="0"/>
          <a:lstStyle>
            <a:lvl1pPr algn="l" indent="0" marL="0">
              <a:buNone/>
              <a:defRPr lang="en-US" sz="1800" dirty="0">
                <a:solidFill>
                  <a:schemeClr val="accent4"/>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457200" y="4773168"/>
            <a:ext cx="5486400" cy="228600"/>
          </a:xfrm>
          <a:prstGeom prst="rect">
            <a:avLst/>
          </a:prstGeom>
          <a:noFill/>
          <a:ln/>
        </p:spPr>
        <p:txBody>
          <a:bodyPr wrap="square" lIns="0" tIns="0" rIns="0" bIns="0" rtlCol="0" anchor="ctr"/>
          <a:lstStyle/>
          <a:p>
            <a:pPr indent="0" marL="0">
              <a:buNone/>
            </a:pPr>
            <a:r>
              <a:rPr lang="en-US" sz="900" dirty="0">
                <a:solidFill>
                  <a:schemeClr val="accent5"/>
                </a:solidFill>
              </a:rPr>
              <a:t>CodeSizzler · Microsoft Fabric for SATORP</a:t>
            </a:r>
            <a:endParaRPr lang="en-US" sz="9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7680960" cy="1463040"/>
          </a:xfrm>
          <a:prstGeom prst="rect">
            <a:avLst/>
          </a:prstGeom>
          <a:noFill/>
          <a:ln/>
        </p:spPr>
        <p:txBody>
          <a:bodyPr wrap="square" lIns="0" tIns="0" rIns="0" bIns="0" rtlCol="0" anchor="b"/>
          <a:lstStyle/>
          <a:p>
            <a:pPr algn="l" indent="0" marL="0">
              <a:buNone/>
            </a:pPr>
            <a:r>
              <a:rPr lang="en-US" sz="4000" b="1" dirty="0">
                <a:solidFill>
                  <a:schemeClr val="bg1"/>
                </a:solidFill>
              </a:rPr>
              <a:t>Microsoft Fabric with Copilot: OneLake &amp; Fabric IQ</a:t>
            </a:r>
            <a:endParaRPr lang="en-US" sz="4000" dirty="0"/>
          </a:p>
        </p:txBody>
      </p:sp>
      <p:sp>
        <p:nvSpPr>
          <p:cNvPr id="3" name="Text 0"/>
          <p:cNvSpPr/>
          <p:nvPr>
            <p:ph idx="101" type="body" hasCustomPrompt="1"/>
          </p:nvPr>
        </p:nvSpPr>
        <p:spPr>
          <a:xfrm>
            <a:off x="548640" y="2971800"/>
            <a:ext cx="7680960" cy="914400"/>
          </a:xfrm>
          <a:prstGeom prst="rect">
            <a:avLst/>
          </a:prstGeom>
          <a:noFill/>
          <a:ln/>
        </p:spPr>
        <p:txBody>
          <a:bodyPr wrap="square" lIns="0" tIns="0" rIns="0" bIns="0" rtlCol="0" anchor="t"/>
          <a:lstStyle/>
          <a:p>
            <a:pPr algn="l" indent="0" marL="0">
              <a:buNone/>
            </a:pPr>
            <a:r>
              <a:rPr lang="en-US" sz="1800" dirty="0">
                <a:solidFill>
                  <a:schemeClr val="accent4"/>
                </a:solidFill>
              </a:rPr>
              <a:t>From scattered refinery data to answers in plain English · Hands-on session for SATORP</a:t>
            </a:r>
            <a:endParaRPr lang="en-US" sz="1800" dirty="0"/>
          </a:p>
        </p:txBody>
      </p:sp>
      <p:sp>
        <p:nvSpPr>
          <p:cNvPr id="4" name="byline"/>
          <p:cNvSpPr txBox="1"/>
          <p:nvPr/>
        </p:nvSpPr>
        <p:spPr>
          <a:xfrm>
            <a:off x="548640" y="4389120"/>
            <a:ext cx="5486400" cy="274320"/>
          </a:xfrm>
          <a:prstGeom prst="rect">
            <a:avLst/>
          </a:prstGeom>
          <a:noFill/>
          <a:ln/>
        </p:spPr>
        <p:txBody>
          <a:bodyPr wrap="square" lIns="0" tIns="0" rIns="0" bIns="0" rtlCol="0" anchor="t"/>
          <a:lstStyle/>
          <a:p>
            <a:pPr indent="0" marL="0">
              <a:buNone/>
            </a:pPr>
            <a:r>
              <a:rPr lang="en-US" sz="1200" dirty="0">
                <a:solidFill>
                  <a:schemeClr val="accent6"/>
                </a:solidFill>
              </a:rPr>
              <a:t>CodeSizzler · Microsoft Preferred Partner, Data &amp; AI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Today's journey: three labs, one story</a:t>
            </a:r>
            <a:endParaRPr lang="en-US" sz="2800" dirty="0"/>
          </a:p>
        </p:txBody>
      </p:sp>
      <p:sp>
        <p:nvSpPr>
          <p:cNvPr id="3" name="agenda card 1"/>
          <p:cNvSpPr/>
          <p:nvPr/>
        </p:nvSpPr>
        <p:spPr>
          <a:xfrm>
            <a:off x="457200" y="1234440"/>
            <a:ext cx="2606040" cy="3108960"/>
          </a:xfrm>
          <a:prstGeom prst="roundRect">
            <a:avLst>
              <a:gd name="adj" fmla="val 2807"/>
            </a:avLst>
          </a:prstGeom>
          <a:solidFill>
            <a:schemeClr val="bg2"/>
          </a:solidFill>
          <a:ln w="9525">
            <a:solidFill>
              <a:schemeClr val="accent6"/>
            </a:solidFill>
            <a:prstDash val="solid"/>
          </a:ln>
        </p:spPr>
      </p:sp>
      <p:sp>
        <p:nvSpPr>
          <p:cNvPr id="4" name="step badge 1"/>
          <p:cNvSpPr/>
          <p:nvPr/>
        </p:nvSpPr>
        <p:spPr>
          <a:xfrm>
            <a:off x="685800" y="1463040"/>
            <a:ext cx="640080" cy="640080"/>
          </a:xfrm>
          <a:prstGeom prst="ellipse">
            <a:avLst/>
          </a:prstGeom>
          <a:solidFill>
            <a:schemeClr val="accent1"/>
          </a:solidFill>
          <a:ln w="12700">
            <a:solidFill>
              <a:schemeClr val="accent1"/>
            </a:solidFill>
            <a:prstDash val="solid"/>
          </a:ln>
        </p:spPr>
      </p:sp>
      <p:sp>
        <p:nvSpPr>
          <p:cNvPr id="5" name="step num 1"/>
          <p:cNvSpPr txBox="1"/>
          <p:nvPr/>
        </p:nvSpPr>
        <p:spPr>
          <a:xfrm>
            <a:off x="685800" y="146304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6" name="step title 1"/>
          <p:cNvSpPr txBox="1"/>
          <p:nvPr/>
        </p:nvSpPr>
        <p:spPr>
          <a:xfrm>
            <a:off x="685800" y="2286000"/>
            <a:ext cx="2194560" cy="411480"/>
          </a:xfrm>
          <a:prstGeom prst="rect">
            <a:avLst/>
          </a:prstGeom>
          <a:noFill/>
          <a:ln/>
        </p:spPr>
        <p:txBody>
          <a:bodyPr wrap="square" lIns="0" tIns="0" rIns="0" bIns="0" rtlCol="0" anchor="t"/>
          <a:lstStyle/>
          <a:p>
            <a:pPr indent="0" marL="0">
              <a:buNone/>
            </a:pPr>
            <a:r>
              <a:rPr lang="en-US" sz="1800" b="1" dirty="0">
                <a:solidFill>
                  <a:schemeClr val="tx2"/>
                </a:solidFill>
              </a:rPr>
              <a:t>OneLake foundations</a:t>
            </a:r>
            <a:endParaRPr lang="en-US" sz="1800" dirty="0"/>
          </a:p>
        </p:txBody>
      </p:sp>
      <p:sp>
        <p:nvSpPr>
          <p:cNvPr id="7" name="step desc 1"/>
          <p:cNvSpPr txBox="1"/>
          <p:nvPr/>
        </p:nvSpPr>
        <p:spPr>
          <a:xfrm>
            <a:off x="685800" y="2743200"/>
            <a:ext cx="2194560" cy="1005840"/>
          </a:xfrm>
          <a:prstGeom prst="rect">
            <a:avLst/>
          </a:prstGeom>
          <a:noFill/>
          <a:ln/>
        </p:spPr>
        <p:txBody>
          <a:bodyPr wrap="square" lIns="0" tIns="0" rIns="0" bIns="0" rtlCol="0" anchor="t"/>
          <a:lstStyle/>
          <a:p>
            <a:pPr indent="0" marL="0">
              <a:buNone/>
            </a:pPr>
            <a:r>
              <a:rPr lang="en-US" sz="1300" dirty="0">
                <a:solidFill>
                  <a:schemeClr val="tx1"/>
                </a:solidFill>
              </a:rPr>
              <a:t>Lakehouses, load data, shortcuts, SQL, OneLake catalog</a:t>
            </a:r>
            <a:endParaRPr lang="en-US" sz="1300" dirty="0"/>
          </a:p>
        </p:txBody>
      </p:sp>
      <p:sp>
        <p:nvSpPr>
          <p:cNvPr id="8" name="step time 1"/>
          <p:cNvSpPr txBox="1"/>
          <p:nvPr/>
        </p:nvSpPr>
        <p:spPr>
          <a:xfrm>
            <a:off x="685800" y="3886200"/>
            <a:ext cx="2194560" cy="274320"/>
          </a:xfrm>
          <a:prstGeom prst="rect">
            <a:avLst/>
          </a:prstGeom>
          <a:noFill/>
          <a:ln/>
        </p:spPr>
        <p:txBody>
          <a:bodyPr wrap="square" lIns="0" tIns="0" rIns="0" bIns="0" rtlCol="0" anchor="t"/>
          <a:lstStyle/>
          <a:p>
            <a:pPr indent="0" marL="0">
              <a:buNone/>
            </a:pPr>
            <a:r>
              <a:rPr lang="en-US" sz="1200" b="1" dirty="0">
                <a:solidFill>
                  <a:schemeClr val="accent1"/>
                </a:solidFill>
              </a:rPr>
              <a:t>45 min</a:t>
            </a:r>
            <a:endParaRPr lang="en-US" sz="1200" dirty="0"/>
          </a:p>
        </p:txBody>
      </p:sp>
      <p:sp>
        <p:nvSpPr>
          <p:cNvPr id="9" name="agenda card 2"/>
          <p:cNvSpPr/>
          <p:nvPr/>
        </p:nvSpPr>
        <p:spPr>
          <a:xfrm>
            <a:off x="3246120" y="1234440"/>
            <a:ext cx="2606040" cy="3108960"/>
          </a:xfrm>
          <a:prstGeom prst="roundRect">
            <a:avLst>
              <a:gd name="adj" fmla="val 2807"/>
            </a:avLst>
          </a:prstGeom>
          <a:solidFill>
            <a:schemeClr val="bg2"/>
          </a:solidFill>
          <a:ln w="9525">
            <a:solidFill>
              <a:schemeClr val="accent6"/>
            </a:solidFill>
            <a:prstDash val="solid"/>
          </a:ln>
        </p:spPr>
      </p:sp>
      <p:sp>
        <p:nvSpPr>
          <p:cNvPr id="10" name="step badge 2"/>
          <p:cNvSpPr/>
          <p:nvPr/>
        </p:nvSpPr>
        <p:spPr>
          <a:xfrm>
            <a:off x="3474720" y="1463040"/>
            <a:ext cx="640080" cy="640080"/>
          </a:xfrm>
          <a:prstGeom prst="ellipse">
            <a:avLst/>
          </a:prstGeom>
          <a:solidFill>
            <a:schemeClr val="accent1"/>
          </a:solidFill>
          <a:ln w="12700">
            <a:solidFill>
              <a:schemeClr val="accent1"/>
            </a:solidFill>
            <a:prstDash val="solid"/>
          </a:ln>
        </p:spPr>
      </p:sp>
      <p:sp>
        <p:nvSpPr>
          <p:cNvPr id="11" name="step num 2"/>
          <p:cNvSpPr txBox="1"/>
          <p:nvPr/>
        </p:nvSpPr>
        <p:spPr>
          <a:xfrm>
            <a:off x="3474720" y="146304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2" name="step title 2"/>
          <p:cNvSpPr txBox="1"/>
          <p:nvPr/>
        </p:nvSpPr>
        <p:spPr>
          <a:xfrm>
            <a:off x="3474720" y="2286000"/>
            <a:ext cx="2194560" cy="411480"/>
          </a:xfrm>
          <a:prstGeom prst="rect">
            <a:avLst/>
          </a:prstGeom>
          <a:noFill/>
          <a:ln/>
        </p:spPr>
        <p:txBody>
          <a:bodyPr wrap="square" lIns="0" tIns="0" rIns="0" bIns="0" rtlCol="0" anchor="t"/>
          <a:lstStyle/>
          <a:p>
            <a:pPr indent="0" marL="0">
              <a:buNone/>
            </a:pPr>
            <a:r>
              <a:rPr lang="en-US" sz="1800" b="1" dirty="0">
                <a:solidFill>
                  <a:schemeClr val="tx2"/>
                </a:solidFill>
              </a:rPr>
              <a:t>Copilot in Fabric</a:t>
            </a:r>
            <a:endParaRPr lang="en-US" sz="1800" dirty="0"/>
          </a:p>
        </p:txBody>
      </p:sp>
      <p:sp>
        <p:nvSpPr>
          <p:cNvPr id="13" name="step desc 2"/>
          <p:cNvSpPr txBox="1"/>
          <p:nvPr/>
        </p:nvSpPr>
        <p:spPr>
          <a:xfrm>
            <a:off x="3474720" y="2743200"/>
            <a:ext cx="2194560" cy="1005840"/>
          </a:xfrm>
          <a:prstGeom prst="rect">
            <a:avLst/>
          </a:prstGeom>
          <a:noFill/>
          <a:ln/>
        </p:spPr>
        <p:txBody>
          <a:bodyPr wrap="square" lIns="0" tIns="0" rIns="0" bIns="0" rtlCol="0" anchor="t"/>
          <a:lstStyle/>
          <a:p>
            <a:pPr indent="0" marL="0">
              <a:buNone/>
            </a:pPr>
            <a:r>
              <a:rPr lang="en-US" sz="1300" dirty="0">
                <a:solidFill>
                  <a:schemeClr val="tx1"/>
                </a:solidFill>
              </a:rPr>
              <a:t>Notebook analysis, semantic model, Copilot in Power BI</a:t>
            </a:r>
            <a:endParaRPr lang="en-US" sz="1300" dirty="0"/>
          </a:p>
        </p:txBody>
      </p:sp>
      <p:sp>
        <p:nvSpPr>
          <p:cNvPr id="14" name="step time 2"/>
          <p:cNvSpPr txBox="1"/>
          <p:nvPr/>
        </p:nvSpPr>
        <p:spPr>
          <a:xfrm>
            <a:off x="3474720" y="3886200"/>
            <a:ext cx="2194560" cy="274320"/>
          </a:xfrm>
          <a:prstGeom prst="rect">
            <a:avLst/>
          </a:prstGeom>
          <a:noFill/>
          <a:ln/>
        </p:spPr>
        <p:txBody>
          <a:bodyPr wrap="square" lIns="0" tIns="0" rIns="0" bIns="0" rtlCol="0" anchor="t"/>
          <a:lstStyle/>
          <a:p>
            <a:pPr indent="0" marL="0">
              <a:buNone/>
            </a:pPr>
            <a:r>
              <a:rPr lang="en-US" sz="1200" b="1" dirty="0">
                <a:solidFill>
                  <a:schemeClr val="accent1"/>
                </a:solidFill>
              </a:rPr>
              <a:t>50 min</a:t>
            </a:r>
            <a:endParaRPr lang="en-US" sz="1200" dirty="0"/>
          </a:p>
        </p:txBody>
      </p:sp>
      <p:sp>
        <p:nvSpPr>
          <p:cNvPr id="15" name="agenda card 3"/>
          <p:cNvSpPr/>
          <p:nvPr/>
        </p:nvSpPr>
        <p:spPr>
          <a:xfrm>
            <a:off x="6035040" y="1234440"/>
            <a:ext cx="2606040" cy="3108960"/>
          </a:xfrm>
          <a:prstGeom prst="roundRect">
            <a:avLst>
              <a:gd name="adj" fmla="val 2807"/>
            </a:avLst>
          </a:prstGeom>
          <a:solidFill>
            <a:schemeClr val="bg2"/>
          </a:solidFill>
          <a:ln w="9525">
            <a:solidFill>
              <a:schemeClr val="accent6"/>
            </a:solidFill>
            <a:prstDash val="solid"/>
          </a:ln>
        </p:spPr>
      </p:sp>
      <p:sp>
        <p:nvSpPr>
          <p:cNvPr id="16" name="step badge 3"/>
          <p:cNvSpPr/>
          <p:nvPr/>
        </p:nvSpPr>
        <p:spPr>
          <a:xfrm>
            <a:off x="6263640" y="1463040"/>
            <a:ext cx="640080" cy="640080"/>
          </a:xfrm>
          <a:prstGeom prst="ellipse">
            <a:avLst/>
          </a:prstGeom>
          <a:solidFill>
            <a:schemeClr val="accent3"/>
          </a:solidFill>
          <a:ln w="12700">
            <a:solidFill>
              <a:schemeClr val="accent3"/>
            </a:solidFill>
            <a:prstDash val="solid"/>
          </a:ln>
        </p:spPr>
      </p:sp>
      <p:sp>
        <p:nvSpPr>
          <p:cNvPr id="17" name="step num 3"/>
          <p:cNvSpPr txBox="1"/>
          <p:nvPr/>
        </p:nvSpPr>
        <p:spPr>
          <a:xfrm>
            <a:off x="6263640" y="146304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8" name="step title 3"/>
          <p:cNvSpPr txBox="1"/>
          <p:nvPr/>
        </p:nvSpPr>
        <p:spPr>
          <a:xfrm>
            <a:off x="6263640" y="2286000"/>
            <a:ext cx="2194560" cy="411480"/>
          </a:xfrm>
          <a:prstGeom prst="rect">
            <a:avLst/>
          </a:prstGeom>
          <a:noFill/>
          <a:ln/>
        </p:spPr>
        <p:txBody>
          <a:bodyPr wrap="square" lIns="0" tIns="0" rIns="0" bIns="0" rtlCol="0" anchor="t"/>
          <a:lstStyle/>
          <a:p>
            <a:pPr indent="0" marL="0">
              <a:buNone/>
            </a:pPr>
            <a:r>
              <a:rPr lang="en-US" sz="1800" b="1" dirty="0">
                <a:solidFill>
                  <a:schemeClr val="tx2"/>
                </a:solidFill>
              </a:rPr>
              <a:t>Fabric IQ</a:t>
            </a:r>
            <a:endParaRPr lang="en-US" sz="1800" dirty="0"/>
          </a:p>
        </p:txBody>
      </p:sp>
      <p:sp>
        <p:nvSpPr>
          <p:cNvPr id="19" name="step desc 3"/>
          <p:cNvSpPr txBox="1"/>
          <p:nvPr/>
        </p:nvSpPr>
        <p:spPr>
          <a:xfrm>
            <a:off x="6263640" y="2743200"/>
            <a:ext cx="2194560" cy="1005840"/>
          </a:xfrm>
          <a:prstGeom prst="rect">
            <a:avLst/>
          </a:prstGeom>
          <a:noFill/>
          <a:ln/>
        </p:spPr>
        <p:txBody>
          <a:bodyPr wrap="square" lIns="0" tIns="0" rIns="0" bIns="0" rtlCol="0" anchor="t"/>
          <a:lstStyle/>
          <a:p>
            <a:pPr indent="0" marL="0">
              <a:buNone/>
            </a:pPr>
            <a:r>
              <a:rPr lang="en-US" sz="1300" dirty="0">
                <a:solidFill>
                  <a:schemeClr val="tx1"/>
                </a:solidFill>
              </a:rPr>
              <a:t>Ontology of units, equipment &amp; work orders + data agent</a:t>
            </a:r>
            <a:endParaRPr lang="en-US" sz="1300" dirty="0"/>
          </a:p>
        </p:txBody>
      </p:sp>
      <p:sp>
        <p:nvSpPr>
          <p:cNvPr id="20" name="step time 3"/>
          <p:cNvSpPr txBox="1"/>
          <p:nvPr/>
        </p:nvSpPr>
        <p:spPr>
          <a:xfrm>
            <a:off x="6263640" y="3886200"/>
            <a:ext cx="2194560" cy="274320"/>
          </a:xfrm>
          <a:prstGeom prst="rect">
            <a:avLst/>
          </a:prstGeom>
          <a:noFill/>
          <a:ln/>
        </p:spPr>
        <p:txBody>
          <a:bodyPr wrap="square" lIns="0" tIns="0" rIns="0" bIns="0" rtlCol="0" anchor="t"/>
          <a:lstStyle/>
          <a:p>
            <a:pPr indent="0" marL="0">
              <a:buNone/>
            </a:pPr>
            <a:r>
              <a:rPr lang="en-US" sz="1200" b="1" dirty="0">
                <a:solidFill>
                  <a:schemeClr val="accent1"/>
                </a:solidFill>
              </a:rPr>
              <a:t>50 min</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The refinery data challenge</a:t>
            </a:r>
            <a:endParaRPr lang="en-US" sz="2800" dirty="0"/>
          </a:p>
        </p:txBody>
      </p:sp>
      <p:sp>
        <p:nvSpPr>
          <p:cNvPr id="3" name="question"/>
          <p:cNvSpPr txBox="1"/>
          <p:nvPr/>
        </p:nvSpPr>
        <p:spPr>
          <a:xfrm>
            <a:off x="457200" y="1097280"/>
            <a:ext cx="8229600" cy="457200"/>
          </a:xfrm>
          <a:prstGeom prst="rect">
            <a:avLst/>
          </a:prstGeom>
          <a:noFill/>
          <a:ln/>
        </p:spPr>
        <p:txBody>
          <a:bodyPr wrap="square" lIns="0" tIns="0" rIns="0" bIns="0" rtlCol="0" anchor="t"/>
          <a:lstStyle/>
          <a:p>
            <a:pPr indent="0" marL="0">
              <a:buNone/>
            </a:pPr>
            <a:r>
              <a:rPr lang="en-US" sz="1800" i="1" dirty="0">
                <a:solidFill>
                  <a:schemeClr val="accent1"/>
                </a:solidFill>
              </a:rPr>
              <a:t>“Which unit lost the most production last month, and why?”</a:t>
            </a:r>
            <a:endParaRPr lang="en-US" sz="1800" dirty="0"/>
          </a:p>
        </p:txBody>
      </p:sp>
      <p:sp>
        <p:nvSpPr>
          <p:cNvPr id="4" name="pain icon 0 circle"/>
          <p:cNvSpPr/>
          <p:nvPr/>
        </p:nvSpPr>
        <p:spPr>
          <a:xfrm>
            <a:off x="457200" y="1737360"/>
            <a:ext cx="548640" cy="548640"/>
          </a:xfrm>
          <a:prstGeom prst="ellipse">
            <a:avLst/>
          </a:prstGeom>
          <a:solidFill>
            <a:schemeClr val="bg2"/>
          </a:solidFill>
          <a:ln w="12700">
            <a:solidFill>
              <a:schemeClr val="bg2"/>
            </a:solidFill>
            <a:prstDash val="solid"/>
          </a:ln>
        </p:spPr>
      </p:sp>
      <p:pic>
        <p:nvPicPr>
          <p:cNvPr id="5" name="pain icon 0" descr="preencoded.png">    </p:cNvPr>
          <p:cNvPicPr>
            <a:picLocks noChangeAspect="1"/>
          </p:cNvPicPr>
          <p:nvPr/>
        </p:nvPicPr>
        <p:blipFill>
          <a:blip r:embed="rId1"/>
          <a:stretch>
            <a:fillRect/>
          </a:stretch>
        </p:blipFill>
        <p:spPr>
          <a:xfrm>
            <a:off x="588874" y="1869034"/>
            <a:ext cx="285293" cy="285293"/>
          </a:xfrm>
          <a:prstGeom prst="rect">
            <a:avLst/>
          </a:prstGeom>
        </p:spPr>
      </p:pic>
      <p:sp>
        <p:nvSpPr>
          <p:cNvPr id="6" name="pain title 0"/>
          <p:cNvSpPr txBox="1"/>
          <p:nvPr/>
        </p:nvSpPr>
        <p:spPr>
          <a:xfrm>
            <a:off x="1188720" y="1755648"/>
            <a:ext cx="2926080" cy="274320"/>
          </a:xfrm>
          <a:prstGeom prst="rect">
            <a:avLst/>
          </a:prstGeom>
          <a:noFill/>
          <a:ln/>
        </p:spPr>
        <p:txBody>
          <a:bodyPr wrap="square" lIns="0" tIns="0" rIns="0" bIns="0" rtlCol="0" anchor="t"/>
          <a:lstStyle/>
          <a:p>
            <a:pPr indent="0" marL="0">
              <a:buNone/>
            </a:pPr>
            <a:r>
              <a:rPr lang="en-US" sz="1500" b="1" dirty="0">
                <a:solidFill>
                  <a:schemeClr val="tx2"/>
                </a:solidFill>
              </a:rPr>
              <a:t>Production data</a:t>
            </a:r>
            <a:endParaRPr lang="en-US" sz="1500" dirty="0"/>
          </a:p>
        </p:txBody>
      </p:sp>
      <p:sp>
        <p:nvSpPr>
          <p:cNvPr id="7" name="pain desc 0"/>
          <p:cNvSpPr txBox="1"/>
          <p:nvPr/>
        </p:nvSpPr>
        <p:spPr>
          <a:xfrm>
            <a:off x="1188720" y="2011680"/>
            <a:ext cx="3291840" cy="320040"/>
          </a:xfrm>
          <a:prstGeom prst="rect">
            <a:avLst/>
          </a:prstGeom>
          <a:noFill/>
          <a:ln/>
        </p:spPr>
        <p:txBody>
          <a:bodyPr wrap="square" lIns="0" tIns="0" rIns="0" bIns="0" rtlCol="0" anchor="t"/>
          <a:lstStyle/>
          <a:p>
            <a:pPr indent="0" marL="0">
              <a:buNone/>
            </a:pPr>
            <a:r>
              <a:rPr lang="en-US" sz="1200" dirty="0">
                <a:solidFill>
                  <a:schemeClr val="tx1"/>
                </a:solidFill>
              </a:rPr>
              <a:t>Daily throughput sits in plant reports and historians</a:t>
            </a:r>
            <a:endParaRPr lang="en-US" sz="1200" dirty="0"/>
          </a:p>
        </p:txBody>
      </p:sp>
      <p:sp>
        <p:nvSpPr>
          <p:cNvPr id="8" name="pain icon 1 circle"/>
          <p:cNvSpPr/>
          <p:nvPr/>
        </p:nvSpPr>
        <p:spPr>
          <a:xfrm>
            <a:off x="457200" y="2450592"/>
            <a:ext cx="548640" cy="548640"/>
          </a:xfrm>
          <a:prstGeom prst="ellipse">
            <a:avLst/>
          </a:prstGeom>
          <a:solidFill>
            <a:schemeClr val="bg2"/>
          </a:solidFill>
          <a:ln w="12700">
            <a:solidFill>
              <a:schemeClr val="bg2"/>
            </a:solidFill>
            <a:prstDash val="solid"/>
          </a:ln>
        </p:spPr>
      </p:sp>
      <p:pic>
        <p:nvPicPr>
          <p:cNvPr id="9" name="pain icon 1" descr="preencoded.png">    </p:cNvPr>
          <p:cNvPicPr>
            <a:picLocks noChangeAspect="1"/>
          </p:cNvPicPr>
          <p:nvPr/>
        </p:nvPicPr>
        <p:blipFill>
          <a:blip r:embed="rId2"/>
          <a:stretch>
            <a:fillRect/>
          </a:stretch>
        </p:blipFill>
        <p:spPr>
          <a:xfrm>
            <a:off x="588874" y="2582266"/>
            <a:ext cx="285293" cy="285293"/>
          </a:xfrm>
          <a:prstGeom prst="rect">
            <a:avLst/>
          </a:prstGeom>
        </p:spPr>
      </p:pic>
      <p:sp>
        <p:nvSpPr>
          <p:cNvPr id="10" name="pain title 1"/>
          <p:cNvSpPr txBox="1"/>
          <p:nvPr/>
        </p:nvSpPr>
        <p:spPr>
          <a:xfrm>
            <a:off x="1188720" y="2468880"/>
            <a:ext cx="2926080" cy="274320"/>
          </a:xfrm>
          <a:prstGeom prst="rect">
            <a:avLst/>
          </a:prstGeom>
          <a:noFill/>
          <a:ln/>
        </p:spPr>
        <p:txBody>
          <a:bodyPr wrap="square" lIns="0" tIns="0" rIns="0" bIns="0" rtlCol="0" anchor="t"/>
          <a:lstStyle/>
          <a:p>
            <a:pPr indent="0" marL="0">
              <a:buNone/>
            </a:pPr>
            <a:r>
              <a:rPr lang="en-US" sz="1500" b="1" dirty="0">
                <a:solidFill>
                  <a:schemeClr val="tx2"/>
                </a:solidFill>
              </a:rPr>
              <a:t>Maintenance data</a:t>
            </a:r>
            <a:endParaRPr lang="en-US" sz="1500" dirty="0"/>
          </a:p>
        </p:txBody>
      </p:sp>
      <p:sp>
        <p:nvSpPr>
          <p:cNvPr id="11" name="pain desc 1"/>
          <p:cNvSpPr txBox="1"/>
          <p:nvPr/>
        </p:nvSpPr>
        <p:spPr>
          <a:xfrm>
            <a:off x="1188720" y="2724912"/>
            <a:ext cx="3291840" cy="320040"/>
          </a:xfrm>
          <a:prstGeom prst="rect">
            <a:avLst/>
          </a:prstGeom>
          <a:noFill/>
          <a:ln/>
        </p:spPr>
        <p:txBody>
          <a:bodyPr wrap="square" lIns="0" tIns="0" rIns="0" bIns="0" rtlCol="0" anchor="t"/>
          <a:lstStyle/>
          <a:p>
            <a:pPr indent="0" marL="0">
              <a:buNone/>
            </a:pPr>
            <a:r>
              <a:rPr lang="en-US" sz="1200" dirty="0">
                <a:solidFill>
                  <a:schemeClr val="tx1"/>
                </a:solidFill>
              </a:rPr>
              <a:t>Work orders and equipment history live in the ERP</a:t>
            </a:r>
            <a:endParaRPr lang="en-US" sz="1200" dirty="0"/>
          </a:p>
        </p:txBody>
      </p:sp>
      <p:sp>
        <p:nvSpPr>
          <p:cNvPr id="12" name="pain icon 2 circle"/>
          <p:cNvSpPr/>
          <p:nvPr/>
        </p:nvSpPr>
        <p:spPr>
          <a:xfrm>
            <a:off x="457200" y="3163824"/>
            <a:ext cx="548640" cy="548640"/>
          </a:xfrm>
          <a:prstGeom prst="ellipse">
            <a:avLst/>
          </a:prstGeom>
          <a:solidFill>
            <a:schemeClr val="bg2"/>
          </a:solidFill>
          <a:ln w="12700">
            <a:solidFill>
              <a:schemeClr val="bg2"/>
            </a:solidFill>
            <a:prstDash val="solid"/>
          </a:ln>
        </p:spPr>
      </p:sp>
      <p:pic>
        <p:nvPicPr>
          <p:cNvPr id="13" name="pain icon 2" descr="preencoded.png">    </p:cNvPr>
          <p:cNvPicPr>
            <a:picLocks noChangeAspect="1"/>
          </p:cNvPicPr>
          <p:nvPr/>
        </p:nvPicPr>
        <p:blipFill>
          <a:blip r:embed="rId3"/>
          <a:stretch>
            <a:fillRect/>
          </a:stretch>
        </p:blipFill>
        <p:spPr>
          <a:xfrm>
            <a:off x="588874" y="3295498"/>
            <a:ext cx="285293" cy="285293"/>
          </a:xfrm>
          <a:prstGeom prst="rect">
            <a:avLst/>
          </a:prstGeom>
        </p:spPr>
      </p:pic>
      <p:sp>
        <p:nvSpPr>
          <p:cNvPr id="14" name="pain title 2"/>
          <p:cNvSpPr txBox="1"/>
          <p:nvPr/>
        </p:nvSpPr>
        <p:spPr>
          <a:xfrm>
            <a:off x="1188720" y="3182112"/>
            <a:ext cx="2926080" cy="274320"/>
          </a:xfrm>
          <a:prstGeom prst="rect">
            <a:avLst/>
          </a:prstGeom>
          <a:noFill/>
          <a:ln/>
        </p:spPr>
        <p:txBody>
          <a:bodyPr wrap="square" lIns="0" tIns="0" rIns="0" bIns="0" rtlCol="0" anchor="t"/>
          <a:lstStyle/>
          <a:p>
            <a:pPr indent="0" marL="0">
              <a:buNone/>
            </a:pPr>
            <a:r>
              <a:rPr lang="en-US" sz="1500" b="1" dirty="0">
                <a:solidFill>
                  <a:schemeClr val="tx2"/>
                </a:solidFill>
              </a:rPr>
              <a:t>Spreadsheets</a:t>
            </a:r>
            <a:endParaRPr lang="en-US" sz="1500" dirty="0"/>
          </a:p>
        </p:txBody>
      </p:sp>
      <p:sp>
        <p:nvSpPr>
          <p:cNvPr id="15" name="pain desc 2"/>
          <p:cNvSpPr txBox="1"/>
          <p:nvPr/>
        </p:nvSpPr>
        <p:spPr>
          <a:xfrm>
            <a:off x="1188720" y="3438144"/>
            <a:ext cx="3291840" cy="320040"/>
          </a:xfrm>
          <a:prstGeom prst="rect">
            <a:avLst/>
          </a:prstGeom>
          <a:noFill/>
          <a:ln/>
        </p:spPr>
        <p:txBody>
          <a:bodyPr wrap="square" lIns="0" tIns="0" rIns="0" bIns="0" rtlCol="0" anchor="t"/>
          <a:lstStyle/>
          <a:p>
            <a:pPr indent="0" marL="0">
              <a:buNone/>
            </a:pPr>
            <a:r>
              <a:rPr lang="en-US" sz="1200" dirty="0">
                <a:solidFill>
                  <a:schemeClr val="tx1"/>
                </a:solidFill>
              </a:rPr>
              <a:t>Downtime causes tracked in team-owned files</a:t>
            </a:r>
            <a:endParaRPr lang="en-US" sz="1200" dirty="0"/>
          </a:p>
        </p:txBody>
      </p:sp>
      <p:sp>
        <p:nvSpPr>
          <p:cNvPr id="16" name="pain icon 3 circle"/>
          <p:cNvSpPr/>
          <p:nvPr/>
        </p:nvSpPr>
        <p:spPr>
          <a:xfrm>
            <a:off x="457200" y="3877056"/>
            <a:ext cx="548640" cy="548640"/>
          </a:xfrm>
          <a:prstGeom prst="ellipse">
            <a:avLst/>
          </a:prstGeom>
          <a:solidFill>
            <a:schemeClr val="bg2"/>
          </a:solidFill>
          <a:ln w="12700">
            <a:solidFill>
              <a:schemeClr val="bg2"/>
            </a:solidFill>
            <a:prstDash val="solid"/>
          </a:ln>
        </p:spPr>
      </p:sp>
      <p:pic>
        <p:nvPicPr>
          <p:cNvPr id="17" name="pain icon 3" descr="preencoded.png">    </p:cNvPr>
          <p:cNvPicPr>
            <a:picLocks noChangeAspect="1"/>
          </p:cNvPicPr>
          <p:nvPr/>
        </p:nvPicPr>
        <p:blipFill>
          <a:blip r:embed="rId4"/>
          <a:stretch>
            <a:fillRect/>
          </a:stretch>
        </p:blipFill>
        <p:spPr>
          <a:xfrm>
            <a:off x="588874" y="4008730"/>
            <a:ext cx="285293" cy="285293"/>
          </a:xfrm>
          <a:prstGeom prst="rect">
            <a:avLst/>
          </a:prstGeom>
        </p:spPr>
      </p:pic>
      <p:sp>
        <p:nvSpPr>
          <p:cNvPr id="18" name="pain title 3"/>
          <p:cNvSpPr txBox="1"/>
          <p:nvPr/>
        </p:nvSpPr>
        <p:spPr>
          <a:xfrm>
            <a:off x="1188720" y="3895344"/>
            <a:ext cx="2926080" cy="274320"/>
          </a:xfrm>
          <a:prstGeom prst="rect">
            <a:avLst/>
          </a:prstGeom>
          <a:noFill/>
          <a:ln/>
        </p:spPr>
        <p:txBody>
          <a:bodyPr wrap="square" lIns="0" tIns="0" rIns="0" bIns="0" rtlCol="0" anchor="t"/>
          <a:lstStyle/>
          <a:p>
            <a:pPr indent="0" marL="0">
              <a:buNone/>
            </a:pPr>
            <a:r>
              <a:rPr lang="en-US" sz="1500" b="1" dirty="0">
                <a:solidFill>
                  <a:schemeClr val="tx2"/>
                </a:solidFill>
              </a:rPr>
              <a:t>Slow answers</a:t>
            </a:r>
            <a:endParaRPr lang="en-US" sz="1500" dirty="0"/>
          </a:p>
        </p:txBody>
      </p:sp>
      <p:sp>
        <p:nvSpPr>
          <p:cNvPr id="19" name="pain desc 3"/>
          <p:cNvSpPr txBox="1"/>
          <p:nvPr/>
        </p:nvSpPr>
        <p:spPr>
          <a:xfrm>
            <a:off x="1188720" y="4151376"/>
            <a:ext cx="3291840" cy="320040"/>
          </a:xfrm>
          <a:prstGeom prst="rect">
            <a:avLst/>
          </a:prstGeom>
          <a:noFill/>
          <a:ln/>
        </p:spPr>
        <p:txBody>
          <a:bodyPr wrap="square" lIns="0" tIns="0" rIns="0" bIns="0" rtlCol="0" anchor="t"/>
          <a:lstStyle/>
          <a:p>
            <a:pPr indent="0" marL="0">
              <a:buNone/>
            </a:pPr>
            <a:r>
              <a:rPr lang="en-US" sz="1200" dirty="0">
                <a:solidFill>
                  <a:schemeClr val="tx1"/>
                </a:solidFill>
              </a:rPr>
              <a:t>Each question means exports, copies and manual joins</a:t>
            </a:r>
            <a:endParaRPr lang="en-US" sz="1200" dirty="0"/>
          </a:p>
        </p:txBody>
      </p:sp>
      <p:sp>
        <p:nvSpPr>
          <p:cNvPr id="20" name="goal panel"/>
          <p:cNvSpPr/>
          <p:nvPr/>
        </p:nvSpPr>
        <p:spPr>
          <a:xfrm>
            <a:off x="4937760" y="1737360"/>
            <a:ext cx="3749040" cy="2743200"/>
          </a:xfrm>
          <a:prstGeom prst="roundRect">
            <a:avLst>
              <a:gd name="adj" fmla="val 2667"/>
            </a:avLst>
          </a:prstGeom>
          <a:solidFill>
            <a:schemeClr val="tx2"/>
          </a:solidFill>
          <a:ln w="12700">
            <a:solidFill>
              <a:schemeClr val="tx2"/>
            </a:solidFill>
            <a:prstDash val="solid"/>
          </a:ln>
        </p:spPr>
      </p:sp>
      <p:sp>
        <p:nvSpPr>
          <p:cNvPr id="21" name="goal title"/>
          <p:cNvSpPr txBox="1"/>
          <p:nvPr/>
        </p:nvSpPr>
        <p:spPr>
          <a:xfrm>
            <a:off x="5212080" y="1920240"/>
            <a:ext cx="3200400" cy="365760"/>
          </a:xfrm>
          <a:prstGeom prst="rect">
            <a:avLst/>
          </a:prstGeom>
          <a:noFill/>
          <a:ln/>
        </p:spPr>
        <p:txBody>
          <a:bodyPr wrap="square" lIns="0" tIns="0" rIns="0" bIns="0" rtlCol="0" anchor="t"/>
          <a:lstStyle/>
          <a:p>
            <a:pPr indent="0" marL="0">
              <a:buNone/>
            </a:pPr>
            <a:r>
              <a:rPr lang="en-US" sz="1800" b="1" dirty="0">
                <a:solidFill>
                  <a:schemeClr val="accent4"/>
                </a:solidFill>
              </a:rPr>
              <a:t>The goal</a:t>
            </a:r>
            <a:endParaRPr lang="en-US" sz="1800" dirty="0"/>
          </a:p>
        </p:txBody>
      </p:sp>
      <p:sp>
        <p:nvSpPr>
          <p:cNvPr id="22" name="goal list"/>
          <p:cNvSpPr txBox="1"/>
          <p:nvPr/>
        </p:nvSpPr>
        <p:spPr>
          <a:xfrm>
            <a:off x="5212080" y="2377440"/>
            <a:ext cx="329184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One governed copy of the data</a:t>
            </a:r>
            <a:endParaRPr lang="en-US" sz="1400" dirty="0"/>
          </a:p>
          <a:p>
            <a:pPr marL="342900" indent="-342900">
              <a:spcAft>
                <a:spcPts val="800"/>
              </a:spcAft>
              <a:buSzPct val="100000"/>
              <a:buChar char="•"/>
            </a:pPr>
            <a:r>
              <a:rPr lang="en-US" sz="1400" dirty="0">
                <a:solidFill>
                  <a:schemeClr val="bg1"/>
                </a:solidFill>
              </a:rPr>
              <a:t>Shared business definitions</a:t>
            </a:r>
            <a:endParaRPr lang="en-US" sz="1400" dirty="0"/>
          </a:p>
          <a:p>
            <a:pPr marL="342900" indent="-342900">
              <a:spcAft>
                <a:spcPts val="800"/>
              </a:spcAft>
              <a:buSzPct val="100000"/>
              <a:buChar char="•"/>
            </a:pPr>
            <a:r>
              <a:rPr lang="en-US" sz="1400" dirty="0">
                <a:solidFill>
                  <a:schemeClr val="bg1"/>
                </a:solidFill>
              </a:rPr>
              <a:t>AI that helps engineers analyse faster</a:t>
            </a:r>
            <a:endParaRPr lang="en-US" sz="1400" dirty="0"/>
          </a:p>
          <a:p>
            <a:pPr marL="342900" indent="-342900">
              <a:spcAft>
                <a:spcPts val="800"/>
              </a:spcAft>
              <a:buSzPct val="100000"/>
              <a:buChar char="•"/>
            </a:pPr>
            <a:r>
              <a:rPr lang="en-US" sz="1400" dirty="0">
                <a:solidFill>
                  <a:schemeClr val="bg1"/>
                </a:solidFill>
              </a:rPr>
              <a:t>Questions answered in plain English</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Microsoft Fabric in one picture</a:t>
            </a:r>
            <a:endParaRPr lang="en-US" sz="2800" dirty="0"/>
          </a:p>
        </p:txBody>
      </p:sp>
      <p:sp>
        <p:nvSpPr>
          <p:cNvPr id="3" name="copilot band"/>
          <p:cNvSpPr/>
          <p:nvPr/>
        </p:nvSpPr>
        <p:spPr>
          <a:xfrm>
            <a:off x="457200" y="1097280"/>
            <a:ext cx="8229600" cy="548640"/>
          </a:xfrm>
          <a:prstGeom prst="roundRect">
            <a:avLst>
              <a:gd name="adj" fmla="val 13333"/>
            </a:avLst>
          </a:prstGeom>
          <a:solidFill>
            <a:schemeClr val="accent3"/>
          </a:solidFill>
          <a:ln w="12700">
            <a:solidFill>
              <a:schemeClr val="accent3"/>
            </a:solidFill>
            <a:prstDash val="solid"/>
          </a:ln>
        </p:spPr>
      </p:sp>
      <p:sp>
        <p:nvSpPr>
          <p:cNvPr id="4" name="copilot label"/>
          <p:cNvSpPr txBox="1"/>
          <p:nvPr/>
        </p:nvSpPr>
        <p:spPr>
          <a:xfrm>
            <a:off x="457200" y="1097280"/>
            <a:ext cx="8229600" cy="548640"/>
          </a:xfrm>
          <a:prstGeom prst="rect">
            <a:avLst/>
          </a:prstGeom>
          <a:noFill/>
          <a:ln/>
        </p:spPr>
        <p:txBody>
          <a:bodyPr wrap="square" lIns="0" tIns="0" rIns="0" bIns="0" rtlCol="0" anchor="ctr"/>
          <a:lstStyle/>
          <a:p>
            <a:pPr algn="ctr" indent="0" marL="0">
              <a:buNone/>
            </a:pPr>
            <a:r>
              <a:rPr lang="en-US" sz="1600" b="1" dirty="0">
                <a:solidFill>
                  <a:schemeClr val="tx2"/>
                </a:solidFill>
              </a:rPr>
              <a:t>Copilot &amp; AI agents across every experience</a:t>
            </a:r>
            <a:endParaRPr lang="en-US" sz="1600" dirty="0"/>
          </a:p>
        </p:txBody>
      </p:sp>
      <p:sp>
        <p:nvSpPr>
          <p:cNvPr id="5" name="iq band"/>
          <p:cNvSpPr/>
          <p:nvPr/>
        </p:nvSpPr>
        <p:spPr>
          <a:xfrm>
            <a:off x="457200" y="1783080"/>
            <a:ext cx="8229600" cy="548640"/>
          </a:xfrm>
          <a:prstGeom prst="roundRect">
            <a:avLst>
              <a:gd name="adj" fmla="val 13333"/>
            </a:avLst>
          </a:prstGeom>
          <a:solidFill>
            <a:schemeClr val="accent4"/>
          </a:solidFill>
          <a:ln w="12700">
            <a:solidFill>
              <a:schemeClr val="accent4"/>
            </a:solidFill>
            <a:prstDash val="solid"/>
          </a:ln>
        </p:spPr>
      </p:sp>
      <p:sp>
        <p:nvSpPr>
          <p:cNvPr id="6" name="iq label"/>
          <p:cNvSpPr txBox="1"/>
          <p:nvPr/>
        </p:nvSpPr>
        <p:spPr>
          <a:xfrm>
            <a:off x="457200" y="1783080"/>
            <a:ext cx="8229600" cy="548640"/>
          </a:xfrm>
          <a:prstGeom prst="rect">
            <a:avLst/>
          </a:prstGeom>
          <a:noFill/>
          <a:ln/>
        </p:spPr>
        <p:txBody>
          <a:bodyPr wrap="square" lIns="0" tIns="0" rIns="0" bIns="0" rtlCol="0" anchor="ctr"/>
          <a:lstStyle/>
          <a:p>
            <a:pPr algn="ctr" indent="0" marL="0">
              <a:buNone/>
            </a:pPr>
            <a:r>
              <a:rPr lang="en-US" sz="1500" b="1" dirty="0">
                <a:solidFill>
                  <a:schemeClr val="tx2"/>
                </a:solidFill>
              </a:rPr>
              <a:t>Fabric IQ: semantic models · ontology · graph · data &amp; operations agents</a:t>
            </a:r>
            <a:endParaRPr lang="en-US" sz="1500" dirty="0"/>
          </a:p>
        </p:txBody>
      </p:sp>
      <p:sp>
        <p:nvSpPr>
          <p:cNvPr id="7" name="workload 0"/>
          <p:cNvSpPr/>
          <p:nvPr/>
        </p:nvSpPr>
        <p:spPr>
          <a:xfrm>
            <a:off x="457200" y="2468880"/>
            <a:ext cx="1572768" cy="914400"/>
          </a:xfrm>
          <a:prstGeom prst="roundRect">
            <a:avLst>
              <a:gd name="adj" fmla="val 8000"/>
            </a:avLst>
          </a:prstGeom>
          <a:solidFill>
            <a:schemeClr val="bg2"/>
          </a:solidFill>
          <a:ln w="9525">
            <a:solidFill>
              <a:schemeClr val="accent6"/>
            </a:solidFill>
            <a:prstDash val="solid"/>
          </a:ln>
        </p:spPr>
      </p:sp>
      <p:sp>
        <p:nvSpPr>
          <p:cNvPr id="8" name="workload label 0"/>
          <p:cNvSpPr txBox="1"/>
          <p:nvPr/>
        </p:nvSpPr>
        <p:spPr>
          <a:xfrm>
            <a:off x="548640" y="2468880"/>
            <a:ext cx="1389888" cy="914400"/>
          </a:xfrm>
          <a:prstGeom prst="rect">
            <a:avLst/>
          </a:prstGeom>
          <a:noFill/>
          <a:ln/>
        </p:spPr>
        <p:txBody>
          <a:bodyPr wrap="square" lIns="0" tIns="0" rIns="0" bIns="0" rtlCol="0" anchor="ctr"/>
          <a:lstStyle/>
          <a:p>
            <a:pPr algn="ctr" indent="0" marL="0">
              <a:buNone/>
            </a:pPr>
            <a:r>
              <a:rPr lang="en-US" sz="1300" b="1" dirty="0">
                <a:solidFill>
                  <a:schemeClr val="tx2"/>
                </a:solidFill>
              </a:rPr>
              <a:t>Data Factory</a:t>
            </a:r>
            <a:endParaRPr lang="en-US" sz="1300" dirty="0"/>
          </a:p>
        </p:txBody>
      </p:sp>
      <p:sp>
        <p:nvSpPr>
          <p:cNvPr id="9" name="workload 1"/>
          <p:cNvSpPr/>
          <p:nvPr/>
        </p:nvSpPr>
        <p:spPr>
          <a:xfrm>
            <a:off x="2121408" y="2468880"/>
            <a:ext cx="1572768" cy="914400"/>
          </a:xfrm>
          <a:prstGeom prst="roundRect">
            <a:avLst>
              <a:gd name="adj" fmla="val 8000"/>
            </a:avLst>
          </a:prstGeom>
          <a:solidFill>
            <a:schemeClr val="bg2"/>
          </a:solidFill>
          <a:ln w="9525">
            <a:solidFill>
              <a:schemeClr val="accent6"/>
            </a:solidFill>
            <a:prstDash val="solid"/>
          </a:ln>
        </p:spPr>
      </p:sp>
      <p:sp>
        <p:nvSpPr>
          <p:cNvPr id="10" name="workload label 1"/>
          <p:cNvSpPr txBox="1"/>
          <p:nvPr/>
        </p:nvSpPr>
        <p:spPr>
          <a:xfrm>
            <a:off x="2212848" y="2468880"/>
            <a:ext cx="1389888" cy="914400"/>
          </a:xfrm>
          <a:prstGeom prst="rect">
            <a:avLst/>
          </a:prstGeom>
          <a:noFill/>
          <a:ln/>
        </p:spPr>
        <p:txBody>
          <a:bodyPr wrap="square" lIns="0" tIns="0" rIns="0" bIns="0" rtlCol="0" anchor="ctr"/>
          <a:lstStyle/>
          <a:p>
            <a:pPr algn="ctr" indent="0" marL="0">
              <a:buNone/>
            </a:pPr>
            <a:r>
              <a:rPr lang="en-US" sz="1300" b="1" dirty="0">
                <a:solidFill>
                  <a:schemeClr val="tx2"/>
                </a:solidFill>
              </a:rPr>
              <a:t>Data Engineering</a:t>
            </a:r>
            <a:endParaRPr lang="en-US" sz="1300" dirty="0"/>
          </a:p>
        </p:txBody>
      </p:sp>
      <p:sp>
        <p:nvSpPr>
          <p:cNvPr id="11" name="workload 2"/>
          <p:cNvSpPr/>
          <p:nvPr/>
        </p:nvSpPr>
        <p:spPr>
          <a:xfrm>
            <a:off x="3785616" y="2468880"/>
            <a:ext cx="1572768" cy="914400"/>
          </a:xfrm>
          <a:prstGeom prst="roundRect">
            <a:avLst>
              <a:gd name="adj" fmla="val 8000"/>
            </a:avLst>
          </a:prstGeom>
          <a:solidFill>
            <a:schemeClr val="bg2"/>
          </a:solidFill>
          <a:ln w="9525">
            <a:solidFill>
              <a:schemeClr val="accent6"/>
            </a:solidFill>
            <a:prstDash val="solid"/>
          </a:ln>
        </p:spPr>
      </p:sp>
      <p:sp>
        <p:nvSpPr>
          <p:cNvPr id="12" name="workload label 2"/>
          <p:cNvSpPr txBox="1"/>
          <p:nvPr/>
        </p:nvSpPr>
        <p:spPr>
          <a:xfrm>
            <a:off x="3877056" y="2468880"/>
            <a:ext cx="1389888" cy="914400"/>
          </a:xfrm>
          <a:prstGeom prst="rect">
            <a:avLst/>
          </a:prstGeom>
          <a:noFill/>
          <a:ln/>
        </p:spPr>
        <p:txBody>
          <a:bodyPr wrap="square" lIns="0" tIns="0" rIns="0" bIns="0" rtlCol="0" anchor="ctr"/>
          <a:lstStyle/>
          <a:p>
            <a:pPr algn="ctr" indent="0" marL="0">
              <a:buNone/>
            </a:pPr>
            <a:r>
              <a:rPr lang="en-US" sz="1300" b="1" dirty="0">
                <a:solidFill>
                  <a:schemeClr val="tx2"/>
                </a:solidFill>
              </a:rPr>
              <a:t>Data Warehouse</a:t>
            </a:r>
            <a:endParaRPr lang="en-US" sz="1300" dirty="0"/>
          </a:p>
        </p:txBody>
      </p:sp>
      <p:sp>
        <p:nvSpPr>
          <p:cNvPr id="13" name="workload 3"/>
          <p:cNvSpPr/>
          <p:nvPr/>
        </p:nvSpPr>
        <p:spPr>
          <a:xfrm>
            <a:off x="5449824" y="2468880"/>
            <a:ext cx="1572768" cy="914400"/>
          </a:xfrm>
          <a:prstGeom prst="roundRect">
            <a:avLst>
              <a:gd name="adj" fmla="val 8000"/>
            </a:avLst>
          </a:prstGeom>
          <a:solidFill>
            <a:schemeClr val="bg2"/>
          </a:solidFill>
          <a:ln w="9525">
            <a:solidFill>
              <a:schemeClr val="accent6"/>
            </a:solidFill>
            <a:prstDash val="solid"/>
          </a:ln>
        </p:spPr>
      </p:sp>
      <p:sp>
        <p:nvSpPr>
          <p:cNvPr id="14" name="workload label 3"/>
          <p:cNvSpPr txBox="1"/>
          <p:nvPr/>
        </p:nvSpPr>
        <p:spPr>
          <a:xfrm>
            <a:off x="5541264" y="2468880"/>
            <a:ext cx="1389888" cy="914400"/>
          </a:xfrm>
          <a:prstGeom prst="rect">
            <a:avLst/>
          </a:prstGeom>
          <a:noFill/>
          <a:ln/>
        </p:spPr>
        <p:txBody>
          <a:bodyPr wrap="square" lIns="0" tIns="0" rIns="0" bIns="0" rtlCol="0" anchor="ctr"/>
          <a:lstStyle/>
          <a:p>
            <a:pPr algn="ctr" indent="0" marL="0">
              <a:buNone/>
            </a:pPr>
            <a:r>
              <a:rPr lang="en-US" sz="1300" b="1" dirty="0">
                <a:solidFill>
                  <a:schemeClr val="tx2"/>
                </a:solidFill>
              </a:rPr>
              <a:t>Real-Time Intelligence</a:t>
            </a:r>
            <a:endParaRPr lang="en-US" sz="1300" dirty="0"/>
          </a:p>
        </p:txBody>
      </p:sp>
      <p:sp>
        <p:nvSpPr>
          <p:cNvPr id="15" name="workload 4"/>
          <p:cNvSpPr/>
          <p:nvPr/>
        </p:nvSpPr>
        <p:spPr>
          <a:xfrm>
            <a:off x="7114032" y="2468880"/>
            <a:ext cx="1572768" cy="914400"/>
          </a:xfrm>
          <a:prstGeom prst="roundRect">
            <a:avLst>
              <a:gd name="adj" fmla="val 8000"/>
            </a:avLst>
          </a:prstGeom>
          <a:solidFill>
            <a:schemeClr val="bg2"/>
          </a:solidFill>
          <a:ln w="9525">
            <a:solidFill>
              <a:schemeClr val="accent6"/>
            </a:solidFill>
            <a:prstDash val="solid"/>
          </a:ln>
        </p:spPr>
      </p:sp>
      <p:sp>
        <p:nvSpPr>
          <p:cNvPr id="16" name="workload label 4"/>
          <p:cNvSpPr txBox="1"/>
          <p:nvPr/>
        </p:nvSpPr>
        <p:spPr>
          <a:xfrm>
            <a:off x="7205472" y="2468880"/>
            <a:ext cx="1389888" cy="914400"/>
          </a:xfrm>
          <a:prstGeom prst="rect">
            <a:avLst/>
          </a:prstGeom>
          <a:noFill/>
          <a:ln/>
        </p:spPr>
        <p:txBody>
          <a:bodyPr wrap="square" lIns="0" tIns="0" rIns="0" bIns="0" rtlCol="0" anchor="ctr"/>
          <a:lstStyle/>
          <a:p>
            <a:pPr algn="ctr" indent="0" marL="0">
              <a:buNone/>
            </a:pPr>
            <a:r>
              <a:rPr lang="en-US" sz="1300" b="1" dirty="0">
                <a:solidFill>
                  <a:schemeClr val="tx2"/>
                </a:solidFill>
              </a:rPr>
              <a:t>Power BI</a:t>
            </a:r>
            <a:endParaRPr lang="en-US" sz="1300" dirty="0"/>
          </a:p>
        </p:txBody>
      </p:sp>
      <p:sp>
        <p:nvSpPr>
          <p:cNvPr id="17" name="onelake band"/>
          <p:cNvSpPr/>
          <p:nvPr/>
        </p:nvSpPr>
        <p:spPr>
          <a:xfrm>
            <a:off x="457200" y="3520440"/>
            <a:ext cx="8229600" cy="822960"/>
          </a:xfrm>
          <a:prstGeom prst="roundRect">
            <a:avLst>
              <a:gd name="adj" fmla="val 8889"/>
            </a:avLst>
          </a:prstGeom>
          <a:solidFill>
            <a:schemeClr val="accent1"/>
          </a:solidFill>
          <a:ln w="12700">
            <a:solidFill>
              <a:schemeClr val="accent1"/>
            </a:solidFill>
            <a:prstDash val="solid"/>
          </a:ln>
        </p:spPr>
      </p:sp>
      <p:sp>
        <p:nvSpPr>
          <p:cNvPr id="18" name="onelake label"/>
          <p:cNvSpPr txBox="1"/>
          <p:nvPr/>
        </p:nvSpPr>
        <p:spPr>
          <a:xfrm>
            <a:off x="457200" y="3520440"/>
            <a:ext cx="8229600" cy="822960"/>
          </a:xfrm>
          <a:prstGeom prst="rect">
            <a:avLst/>
          </a:prstGeom>
          <a:noFill/>
          <a:ln/>
        </p:spPr>
        <p:txBody>
          <a:bodyPr wrap="square" lIns="0" tIns="0" rIns="0" bIns="0" rtlCol="0" anchor="ctr"/>
          <a:lstStyle/>
          <a:p>
            <a:pPr algn="ctr" indent="0" marL="0">
              <a:buNone/>
            </a:pPr>
            <a:r>
              <a:rPr lang="en-US" sz="2000" b="1" dirty="0">
                <a:solidFill>
                  <a:schemeClr val="bg1"/>
                </a:solidFill>
              </a:rPr>
              <a:t>OneLake</a:t>
            </a:r>
            <a:endParaRPr lang="en-US" sz="1400" dirty="0"/>
          </a:p>
          <a:p>
            <a:pPr algn="ctr" indent="0" marL="0">
              <a:buNone/>
            </a:pPr>
            <a:r>
              <a:rPr lang="en-US" sz="1300" dirty="0">
                <a:solidFill>
                  <a:schemeClr val="bg1"/>
                </a:solidFill>
              </a:rPr>
              <a:t>One lake · one copy · open Delta Parquet format · governed by Purview</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OneLake: the OneDrive for data</a:t>
            </a:r>
            <a:endParaRPr lang="en-US" sz="2800" dirty="0"/>
          </a:p>
        </p:txBody>
      </p:sp>
      <p:sp>
        <p:nvSpPr>
          <p:cNvPr id="3" name="onelake card 0"/>
          <p:cNvSpPr/>
          <p:nvPr/>
        </p:nvSpPr>
        <p:spPr>
          <a:xfrm>
            <a:off x="457200" y="1188720"/>
            <a:ext cx="2606040" cy="3154680"/>
          </a:xfrm>
          <a:prstGeom prst="roundRect">
            <a:avLst>
              <a:gd name="adj" fmla="val 2807"/>
            </a:avLst>
          </a:prstGeom>
          <a:solidFill>
            <a:schemeClr val="bg2"/>
          </a:solidFill>
          <a:ln w="9525">
            <a:solidFill>
              <a:schemeClr val="accent6"/>
            </a:solidFill>
            <a:prstDash val="solid"/>
          </a:ln>
        </p:spPr>
      </p:sp>
      <p:sp>
        <p:nvSpPr>
          <p:cNvPr id="4" name="onelake icon 0 circle"/>
          <p:cNvSpPr/>
          <p:nvPr/>
        </p:nvSpPr>
        <p:spPr>
          <a:xfrm>
            <a:off x="685800" y="1417320"/>
            <a:ext cx="640080" cy="640080"/>
          </a:xfrm>
          <a:prstGeom prst="ellipse">
            <a:avLst/>
          </a:prstGeom>
          <a:solidFill>
            <a:schemeClr val="bg2"/>
          </a:solidFill>
          <a:ln w="12700">
            <a:solidFill>
              <a:schemeClr val="bg2"/>
            </a:solidFill>
            <a:prstDash val="solid"/>
          </a:ln>
        </p:spPr>
      </p:sp>
      <p:pic>
        <p:nvPicPr>
          <p:cNvPr id="5" name="onelake icon 0" descr="preencoded.png">    </p:cNvPr>
          <p:cNvPicPr>
            <a:picLocks noChangeAspect="1"/>
          </p:cNvPicPr>
          <p:nvPr/>
        </p:nvPicPr>
        <p:blipFill>
          <a:blip r:embed="rId1"/>
          <a:stretch>
            <a:fillRect/>
          </a:stretch>
        </p:blipFill>
        <p:spPr>
          <a:xfrm>
            <a:off x="839419" y="1570939"/>
            <a:ext cx="332842" cy="332842"/>
          </a:xfrm>
          <a:prstGeom prst="rect">
            <a:avLst/>
          </a:prstGeom>
        </p:spPr>
      </p:pic>
      <p:sp>
        <p:nvSpPr>
          <p:cNvPr id="6" name="onelake title 0"/>
          <p:cNvSpPr txBox="1"/>
          <p:nvPr/>
        </p:nvSpPr>
        <p:spPr>
          <a:xfrm>
            <a:off x="685800" y="2240280"/>
            <a:ext cx="2194560" cy="411480"/>
          </a:xfrm>
          <a:prstGeom prst="rect">
            <a:avLst/>
          </a:prstGeom>
          <a:noFill/>
          <a:ln/>
        </p:spPr>
        <p:txBody>
          <a:bodyPr wrap="square" lIns="0" tIns="0" rIns="0" bIns="0" rtlCol="0" anchor="t"/>
          <a:lstStyle/>
          <a:p>
            <a:pPr indent="0" marL="0">
              <a:buNone/>
            </a:pPr>
            <a:r>
              <a:rPr lang="en-US" sz="1800" b="1" dirty="0">
                <a:solidFill>
                  <a:schemeClr val="tx2"/>
                </a:solidFill>
              </a:rPr>
              <a:t>One lake</a:t>
            </a:r>
            <a:endParaRPr lang="en-US" sz="1800" dirty="0"/>
          </a:p>
        </p:txBody>
      </p:sp>
      <p:sp>
        <p:nvSpPr>
          <p:cNvPr id="7" name="onelake desc 0"/>
          <p:cNvSpPr txBox="1"/>
          <p:nvPr/>
        </p:nvSpPr>
        <p:spPr>
          <a:xfrm>
            <a:off x="685800" y="2697480"/>
            <a:ext cx="2194560" cy="1554480"/>
          </a:xfrm>
          <a:prstGeom prst="rect">
            <a:avLst/>
          </a:prstGeom>
          <a:noFill/>
          <a:ln/>
        </p:spPr>
        <p:txBody>
          <a:bodyPr wrap="square" lIns="0" tIns="0" rIns="0" bIns="0" rtlCol="0" anchor="t"/>
          <a:lstStyle/>
          <a:p>
            <a:pPr indent="0" marL="0">
              <a:buNone/>
            </a:pPr>
            <a:r>
              <a:rPr lang="en-US" sz="1300" dirty="0">
                <a:solidFill>
                  <a:schemeClr val="tx1"/>
                </a:solidFill>
              </a:rPr>
              <a:t>Every Fabric tenant has exactly one OneLake. Lakehouses, warehouses and databases all store data there.</a:t>
            </a:r>
            <a:endParaRPr lang="en-US" sz="1300" dirty="0"/>
          </a:p>
        </p:txBody>
      </p:sp>
      <p:sp>
        <p:nvSpPr>
          <p:cNvPr id="8" name="onelake card 1"/>
          <p:cNvSpPr/>
          <p:nvPr/>
        </p:nvSpPr>
        <p:spPr>
          <a:xfrm>
            <a:off x="3246120" y="1188720"/>
            <a:ext cx="2606040" cy="3154680"/>
          </a:xfrm>
          <a:prstGeom prst="roundRect">
            <a:avLst>
              <a:gd name="adj" fmla="val 2807"/>
            </a:avLst>
          </a:prstGeom>
          <a:solidFill>
            <a:schemeClr val="bg2"/>
          </a:solidFill>
          <a:ln w="9525">
            <a:solidFill>
              <a:schemeClr val="accent6"/>
            </a:solidFill>
            <a:prstDash val="solid"/>
          </a:ln>
        </p:spPr>
      </p:sp>
      <p:sp>
        <p:nvSpPr>
          <p:cNvPr id="9" name="onelake icon 1 circle"/>
          <p:cNvSpPr/>
          <p:nvPr/>
        </p:nvSpPr>
        <p:spPr>
          <a:xfrm>
            <a:off x="3474720" y="1417320"/>
            <a:ext cx="640080" cy="640080"/>
          </a:xfrm>
          <a:prstGeom prst="ellipse">
            <a:avLst/>
          </a:prstGeom>
          <a:solidFill>
            <a:schemeClr val="bg2"/>
          </a:solidFill>
          <a:ln w="12700">
            <a:solidFill>
              <a:schemeClr val="bg2"/>
            </a:solidFill>
            <a:prstDash val="solid"/>
          </a:ln>
        </p:spPr>
      </p:sp>
      <p:pic>
        <p:nvPicPr>
          <p:cNvPr id="10" name="onelake icon 1" descr="preencoded.png">    </p:cNvPr>
          <p:cNvPicPr>
            <a:picLocks noChangeAspect="1"/>
          </p:cNvPicPr>
          <p:nvPr/>
        </p:nvPicPr>
        <p:blipFill>
          <a:blip r:embed="rId2"/>
          <a:stretch>
            <a:fillRect/>
          </a:stretch>
        </p:blipFill>
        <p:spPr>
          <a:xfrm>
            <a:off x="3628339" y="1570939"/>
            <a:ext cx="332842" cy="332842"/>
          </a:xfrm>
          <a:prstGeom prst="rect">
            <a:avLst/>
          </a:prstGeom>
        </p:spPr>
      </p:pic>
      <p:sp>
        <p:nvSpPr>
          <p:cNvPr id="11" name="onelake title 1"/>
          <p:cNvSpPr txBox="1"/>
          <p:nvPr/>
        </p:nvSpPr>
        <p:spPr>
          <a:xfrm>
            <a:off x="3474720" y="2240280"/>
            <a:ext cx="2194560" cy="411480"/>
          </a:xfrm>
          <a:prstGeom prst="rect">
            <a:avLst/>
          </a:prstGeom>
          <a:noFill/>
          <a:ln/>
        </p:spPr>
        <p:txBody>
          <a:bodyPr wrap="square" lIns="0" tIns="0" rIns="0" bIns="0" rtlCol="0" anchor="t"/>
          <a:lstStyle/>
          <a:p>
            <a:pPr indent="0" marL="0">
              <a:buNone/>
            </a:pPr>
            <a:r>
              <a:rPr lang="en-US" sz="1800" b="1" dirty="0">
                <a:solidFill>
                  <a:schemeClr val="tx2"/>
                </a:solidFill>
              </a:rPr>
              <a:t>One copy</a:t>
            </a:r>
            <a:endParaRPr lang="en-US" sz="1800" dirty="0"/>
          </a:p>
        </p:txBody>
      </p:sp>
      <p:sp>
        <p:nvSpPr>
          <p:cNvPr id="12" name="onelake desc 1"/>
          <p:cNvSpPr txBox="1"/>
          <p:nvPr/>
        </p:nvSpPr>
        <p:spPr>
          <a:xfrm>
            <a:off x="3474720" y="2697480"/>
            <a:ext cx="2194560" cy="1554480"/>
          </a:xfrm>
          <a:prstGeom prst="rect">
            <a:avLst/>
          </a:prstGeom>
          <a:noFill/>
          <a:ln/>
        </p:spPr>
        <p:txBody>
          <a:bodyPr wrap="square" lIns="0" tIns="0" rIns="0" bIns="0" rtlCol="0" anchor="t"/>
          <a:lstStyle/>
          <a:p>
            <a:pPr indent="0" marL="0">
              <a:buNone/>
            </a:pPr>
            <a:r>
              <a:rPr lang="en-US" sz="1300" dirty="0">
                <a:solidFill>
                  <a:schemeClr val="tx1"/>
                </a:solidFill>
              </a:rPr>
              <a:t>Shortcuts reuse data where it lives: other lakehouses, ADLS Gen2, Amazon S3, Google Cloud Storage, Dataverse and more.</a:t>
            </a:r>
            <a:endParaRPr lang="en-US" sz="1300" dirty="0"/>
          </a:p>
        </p:txBody>
      </p:sp>
      <p:sp>
        <p:nvSpPr>
          <p:cNvPr id="13" name="onelake card 2"/>
          <p:cNvSpPr/>
          <p:nvPr/>
        </p:nvSpPr>
        <p:spPr>
          <a:xfrm>
            <a:off x="6035040" y="1188720"/>
            <a:ext cx="2606040" cy="3154680"/>
          </a:xfrm>
          <a:prstGeom prst="roundRect">
            <a:avLst>
              <a:gd name="adj" fmla="val 2807"/>
            </a:avLst>
          </a:prstGeom>
          <a:solidFill>
            <a:schemeClr val="bg2"/>
          </a:solidFill>
          <a:ln w="9525">
            <a:solidFill>
              <a:schemeClr val="accent6"/>
            </a:solidFill>
            <a:prstDash val="solid"/>
          </a:ln>
        </p:spPr>
      </p:sp>
      <p:sp>
        <p:nvSpPr>
          <p:cNvPr id="14" name="onelake icon 2 circle"/>
          <p:cNvSpPr/>
          <p:nvPr/>
        </p:nvSpPr>
        <p:spPr>
          <a:xfrm>
            <a:off x="6263640" y="1417320"/>
            <a:ext cx="640080" cy="640080"/>
          </a:xfrm>
          <a:prstGeom prst="ellipse">
            <a:avLst/>
          </a:prstGeom>
          <a:solidFill>
            <a:schemeClr val="bg2"/>
          </a:solidFill>
          <a:ln w="12700">
            <a:solidFill>
              <a:schemeClr val="bg2"/>
            </a:solidFill>
            <a:prstDash val="solid"/>
          </a:ln>
        </p:spPr>
      </p:sp>
      <p:pic>
        <p:nvPicPr>
          <p:cNvPr id="15" name="onelake icon 2" descr="preencoded.png">    </p:cNvPr>
          <p:cNvPicPr>
            <a:picLocks noChangeAspect="1"/>
          </p:cNvPicPr>
          <p:nvPr/>
        </p:nvPicPr>
        <p:blipFill>
          <a:blip r:embed="rId3"/>
          <a:stretch>
            <a:fillRect/>
          </a:stretch>
        </p:blipFill>
        <p:spPr>
          <a:xfrm>
            <a:off x="6417259" y="1570939"/>
            <a:ext cx="332842" cy="332842"/>
          </a:xfrm>
          <a:prstGeom prst="rect">
            <a:avLst/>
          </a:prstGeom>
        </p:spPr>
      </p:pic>
      <p:sp>
        <p:nvSpPr>
          <p:cNvPr id="16" name="onelake title 2"/>
          <p:cNvSpPr txBox="1"/>
          <p:nvPr/>
        </p:nvSpPr>
        <p:spPr>
          <a:xfrm>
            <a:off x="6263640" y="2240280"/>
            <a:ext cx="2194560" cy="411480"/>
          </a:xfrm>
          <a:prstGeom prst="rect">
            <a:avLst/>
          </a:prstGeom>
          <a:noFill/>
          <a:ln/>
        </p:spPr>
        <p:txBody>
          <a:bodyPr wrap="square" lIns="0" tIns="0" rIns="0" bIns="0" rtlCol="0" anchor="t"/>
          <a:lstStyle/>
          <a:p>
            <a:pPr indent="0" marL="0">
              <a:buNone/>
            </a:pPr>
            <a:r>
              <a:rPr lang="en-US" sz="1800" b="1" dirty="0">
                <a:solidFill>
                  <a:schemeClr val="tx2"/>
                </a:solidFill>
              </a:rPr>
              <a:t>Open format</a:t>
            </a:r>
            <a:endParaRPr lang="en-US" sz="1800" dirty="0"/>
          </a:p>
        </p:txBody>
      </p:sp>
      <p:sp>
        <p:nvSpPr>
          <p:cNvPr id="17" name="onelake desc 2"/>
          <p:cNvSpPr txBox="1"/>
          <p:nvPr/>
        </p:nvSpPr>
        <p:spPr>
          <a:xfrm>
            <a:off x="6263640" y="2697480"/>
            <a:ext cx="2194560" cy="1554480"/>
          </a:xfrm>
          <a:prstGeom prst="rect">
            <a:avLst/>
          </a:prstGeom>
          <a:noFill/>
          <a:ln/>
        </p:spPr>
        <p:txBody>
          <a:bodyPr wrap="square" lIns="0" tIns="0" rIns="0" bIns="0" rtlCol="0" anchor="t"/>
          <a:lstStyle/>
          <a:p>
            <a:pPr indent="0" marL="0">
              <a:buNone/>
            </a:pPr>
            <a:r>
              <a:rPr lang="en-US" sz="1300" dirty="0">
                <a:solidFill>
                  <a:schemeClr val="tx1"/>
                </a:solidFill>
              </a:rPr>
              <a:t>Delta Parquet tables readable by Spark, SQL, Power BI (Direct Lake) and KQL.</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Shortcuts and the OneLake catalog</a:t>
            </a:r>
            <a:endParaRPr lang="en-US" sz="2800" dirty="0"/>
          </a:p>
        </p:txBody>
      </p:sp>
      <p:sp>
        <p:nvSpPr>
          <p:cNvPr id="3" name="reliability box"/>
          <p:cNvSpPr/>
          <p:nvPr/>
        </p:nvSpPr>
        <p:spPr>
          <a:xfrm>
            <a:off x="457200" y="1371600"/>
            <a:ext cx="2377440" cy="914400"/>
          </a:xfrm>
          <a:prstGeom prst="roundRect">
            <a:avLst>
              <a:gd name="adj" fmla="val 8000"/>
            </a:avLst>
          </a:prstGeom>
          <a:solidFill>
            <a:schemeClr val="accent1"/>
          </a:solidFill>
          <a:ln w="12700">
            <a:solidFill>
              <a:schemeClr val="accent1"/>
            </a:solidFill>
            <a:prstDash val="solid"/>
          </a:ln>
        </p:spPr>
      </p:sp>
      <p:sp>
        <p:nvSpPr>
          <p:cNvPr id="4" name="reliability box text"/>
          <p:cNvSpPr txBox="1"/>
          <p:nvPr/>
        </p:nvSpPr>
        <p:spPr>
          <a:xfrm>
            <a:off x="548640" y="1371600"/>
            <a:ext cx="2194560" cy="914400"/>
          </a:xfrm>
          <a:prstGeom prst="rect">
            <a:avLst/>
          </a:prstGeom>
          <a:noFill/>
          <a:ln/>
        </p:spPr>
        <p:txBody>
          <a:bodyPr wrap="square" lIns="0" tIns="0" rIns="0" bIns="0" rtlCol="0" anchor="ctr"/>
          <a:lstStyle/>
          <a:p>
            <a:pPr algn="ctr" indent="0" marL="0">
              <a:buNone/>
            </a:pPr>
            <a:r>
              <a:rPr lang="en-US" sz="1500" b="1" dirty="0">
                <a:solidFill>
                  <a:schemeClr val="bg1"/>
                </a:solidFill>
              </a:rPr>
              <a:t>Reliability_LH</a:t>
            </a:r>
            <a:endParaRPr lang="en-US" sz="1400" dirty="0"/>
          </a:p>
          <a:p>
            <a:pPr algn="ctr" indent="0" marL="0">
              <a:buNone/>
            </a:pPr>
            <a:r>
              <a:rPr lang="en-US" sz="1100" dirty="0">
                <a:solidFill>
                  <a:schemeClr val="bg1"/>
                </a:solidFill>
              </a:rPr>
              <a:t>owns downtime_events</a:t>
            </a:r>
            <a:endParaRPr lang="en-US" sz="1400" dirty="0"/>
          </a:p>
        </p:txBody>
      </p:sp>
      <p:sp>
        <p:nvSpPr>
          <p:cNvPr id="5" name="external box"/>
          <p:cNvSpPr/>
          <p:nvPr/>
        </p:nvSpPr>
        <p:spPr>
          <a:xfrm>
            <a:off x="457200" y="2834640"/>
            <a:ext cx="2377440" cy="914400"/>
          </a:xfrm>
          <a:prstGeom prst="roundRect">
            <a:avLst>
              <a:gd name="adj" fmla="val 8000"/>
            </a:avLst>
          </a:prstGeom>
          <a:solidFill>
            <a:schemeClr val="accent5"/>
          </a:solidFill>
          <a:ln w="12700">
            <a:solidFill>
              <a:schemeClr val="accent5"/>
            </a:solidFill>
            <a:prstDash val="solid"/>
          </a:ln>
        </p:spPr>
      </p:sp>
      <p:sp>
        <p:nvSpPr>
          <p:cNvPr id="6" name="external box text"/>
          <p:cNvSpPr txBox="1"/>
          <p:nvPr/>
        </p:nvSpPr>
        <p:spPr>
          <a:xfrm>
            <a:off x="548640" y="2834640"/>
            <a:ext cx="2194560" cy="914400"/>
          </a:xfrm>
          <a:prstGeom prst="rect">
            <a:avLst/>
          </a:prstGeom>
          <a:noFill/>
          <a:ln/>
        </p:spPr>
        <p:txBody>
          <a:bodyPr wrap="square" lIns="0" tIns="0" rIns="0" bIns="0" rtlCol="0" anchor="ctr"/>
          <a:lstStyle/>
          <a:p>
            <a:pPr algn="ctr" indent="0" marL="0">
              <a:buNone/>
            </a:pPr>
            <a:r>
              <a:rPr lang="en-US" sz="1500" b="1" dirty="0">
                <a:solidFill>
                  <a:schemeClr val="bg1"/>
                </a:solidFill>
              </a:rPr>
              <a:t>External storage</a:t>
            </a:r>
            <a:endParaRPr lang="en-US" sz="1400" dirty="0"/>
          </a:p>
          <a:p>
            <a:pPr algn="ctr" indent="0" marL="0">
              <a:buNone/>
            </a:pPr>
            <a:r>
              <a:rPr lang="en-US" sz="1100" dirty="0">
                <a:solidFill>
                  <a:schemeClr val="bg1"/>
                </a:solidFill>
              </a:rPr>
              <a:t>ADLS Gen2 · S3 · GCS · Dataverse</a:t>
            </a:r>
            <a:endParaRPr lang="en-US" sz="1400" dirty="0"/>
          </a:p>
        </p:txBody>
      </p:sp>
      <p:sp>
        <p:nvSpPr>
          <p:cNvPr id="7" name="refinery box"/>
          <p:cNvSpPr/>
          <p:nvPr/>
        </p:nvSpPr>
        <p:spPr>
          <a:xfrm>
            <a:off x="3749040" y="2103120"/>
            <a:ext cx="2377440" cy="914400"/>
          </a:xfrm>
          <a:prstGeom prst="roundRect">
            <a:avLst>
              <a:gd name="adj" fmla="val 8000"/>
            </a:avLst>
          </a:prstGeom>
          <a:solidFill>
            <a:schemeClr val="tx2"/>
          </a:solidFill>
          <a:ln w="12700">
            <a:solidFill>
              <a:schemeClr val="tx2"/>
            </a:solidFill>
            <a:prstDash val="solid"/>
          </a:ln>
        </p:spPr>
      </p:sp>
      <p:sp>
        <p:nvSpPr>
          <p:cNvPr id="8" name="refinery box text"/>
          <p:cNvSpPr txBox="1"/>
          <p:nvPr/>
        </p:nvSpPr>
        <p:spPr>
          <a:xfrm>
            <a:off x="3840480" y="2103120"/>
            <a:ext cx="2194560" cy="914400"/>
          </a:xfrm>
          <a:prstGeom prst="rect">
            <a:avLst/>
          </a:prstGeom>
          <a:noFill/>
          <a:ln/>
        </p:spPr>
        <p:txBody>
          <a:bodyPr wrap="square" lIns="0" tIns="0" rIns="0" bIns="0" rtlCol="0" anchor="ctr"/>
          <a:lstStyle/>
          <a:p>
            <a:pPr algn="ctr" indent="0" marL="0">
              <a:buNone/>
            </a:pPr>
            <a:r>
              <a:rPr lang="en-US" sz="1500" b="1" dirty="0">
                <a:solidFill>
                  <a:schemeClr val="bg1"/>
                </a:solidFill>
              </a:rPr>
              <a:t>Refinery_LH</a:t>
            </a:r>
            <a:endParaRPr lang="en-US" sz="1400" dirty="0"/>
          </a:p>
          <a:p>
            <a:pPr algn="ctr" indent="0" marL="0">
              <a:buNone/>
            </a:pPr>
            <a:r>
              <a:rPr lang="en-US" sz="1100" dirty="0">
                <a:solidFill>
                  <a:schemeClr val="bg1"/>
                </a:solidFill>
              </a:rPr>
              <a:t>uses data via shortcuts</a:t>
            </a:r>
            <a:endParaRPr lang="en-US" sz="1400" dirty="0"/>
          </a:p>
        </p:txBody>
      </p:sp>
      <p:sp>
        <p:nvSpPr>
          <p:cNvPr id="9" name="arrow 1"/>
          <p:cNvSpPr/>
          <p:nvPr/>
        </p:nvSpPr>
        <p:spPr>
          <a:xfrm>
            <a:off x="2834640" y="1828800"/>
            <a:ext cx="914400" cy="502920"/>
          </a:xfrm>
          <a:prstGeom prst="line">
            <a:avLst/>
          </a:prstGeom>
          <a:noFill/>
          <a:ln w="25400">
            <a:solidFill>
              <a:schemeClr val="accent3"/>
            </a:solidFill>
            <a:prstDash val="solid"/>
            <a:tailEnd type="triangle"/>
          </a:ln>
        </p:spPr>
      </p:sp>
      <p:sp>
        <p:nvSpPr>
          <p:cNvPr id="10" name="arrow 2"/>
          <p:cNvSpPr/>
          <p:nvPr/>
        </p:nvSpPr>
        <p:spPr>
          <a:xfrm flipV="1">
            <a:off x="2834640" y="2788920"/>
            <a:ext cx="914400" cy="502920"/>
          </a:xfrm>
          <a:prstGeom prst="line">
            <a:avLst/>
          </a:prstGeom>
          <a:noFill/>
          <a:ln w="25400">
            <a:solidFill>
              <a:schemeClr val="accent3"/>
            </a:solidFill>
            <a:prstDash val="solid"/>
            <a:tailEnd type="triangle"/>
          </a:ln>
        </p:spPr>
      </p:sp>
      <p:sp>
        <p:nvSpPr>
          <p:cNvPr id="11" name="shortcut label"/>
          <p:cNvSpPr txBox="1"/>
          <p:nvPr/>
        </p:nvSpPr>
        <p:spPr>
          <a:xfrm>
            <a:off x="2743200" y="2359152"/>
            <a:ext cx="960120" cy="411480"/>
          </a:xfrm>
          <a:prstGeom prst="rect">
            <a:avLst/>
          </a:prstGeom>
          <a:noFill/>
          <a:ln/>
        </p:spPr>
        <p:txBody>
          <a:bodyPr wrap="square" lIns="0" tIns="0" rIns="0" bIns="0" rtlCol="0" anchor="t"/>
          <a:lstStyle/>
          <a:p>
            <a:pPr indent="0" marL="0">
              <a:buNone/>
            </a:pPr>
            <a:r>
              <a:rPr lang="en-US" sz="900" i="1" dirty="0">
                <a:solidFill>
                  <a:schemeClr val="accent5"/>
                </a:solidFill>
              </a:rPr>
              <a:t>shortcut = pointer, no copy</a:t>
            </a:r>
            <a:endParaRPr lang="en-US" sz="900" dirty="0"/>
          </a:p>
        </p:txBody>
      </p:sp>
      <p:sp>
        <p:nvSpPr>
          <p:cNvPr id="12" name="catalog card"/>
          <p:cNvSpPr/>
          <p:nvPr/>
        </p:nvSpPr>
        <p:spPr>
          <a:xfrm>
            <a:off x="6400800" y="1188720"/>
            <a:ext cx="2286000" cy="3154680"/>
          </a:xfrm>
          <a:prstGeom prst="roundRect">
            <a:avLst>
              <a:gd name="adj" fmla="val 3200"/>
            </a:avLst>
          </a:prstGeom>
          <a:solidFill>
            <a:schemeClr val="bg2"/>
          </a:solidFill>
          <a:ln w="9525">
            <a:solidFill>
              <a:schemeClr val="accent6"/>
            </a:solidFill>
            <a:prstDash val="solid"/>
          </a:ln>
        </p:spPr>
      </p:sp>
      <p:sp>
        <p:nvSpPr>
          <p:cNvPr id="13" name="catalog icon circle"/>
          <p:cNvSpPr/>
          <p:nvPr/>
        </p:nvSpPr>
        <p:spPr>
          <a:xfrm>
            <a:off x="6629400" y="1371600"/>
            <a:ext cx="548640" cy="548640"/>
          </a:xfrm>
          <a:prstGeom prst="ellipse">
            <a:avLst/>
          </a:prstGeom>
          <a:solidFill>
            <a:schemeClr val="bg2"/>
          </a:solidFill>
          <a:ln w="12700">
            <a:solidFill>
              <a:schemeClr val="bg2"/>
            </a:solidFill>
            <a:prstDash val="solid"/>
          </a:ln>
        </p:spPr>
      </p:sp>
      <p:pic>
        <p:nvPicPr>
          <p:cNvPr id="14" name="catalog icon" descr="preencoded.png">    </p:cNvPr>
          <p:cNvPicPr>
            <a:picLocks noChangeAspect="1"/>
          </p:cNvPicPr>
          <p:nvPr/>
        </p:nvPicPr>
        <p:blipFill>
          <a:blip r:embed="rId1"/>
          <a:stretch>
            <a:fillRect/>
          </a:stretch>
        </p:blipFill>
        <p:spPr>
          <a:xfrm>
            <a:off x="6761074" y="1503274"/>
            <a:ext cx="285293" cy="285293"/>
          </a:xfrm>
          <a:prstGeom prst="rect">
            <a:avLst/>
          </a:prstGeom>
        </p:spPr>
      </p:pic>
      <p:sp>
        <p:nvSpPr>
          <p:cNvPr id="15" name="catalog title"/>
          <p:cNvSpPr txBox="1"/>
          <p:nvPr/>
        </p:nvSpPr>
        <p:spPr>
          <a:xfrm>
            <a:off x="6629400" y="2011680"/>
            <a:ext cx="1920240" cy="365760"/>
          </a:xfrm>
          <a:prstGeom prst="rect">
            <a:avLst/>
          </a:prstGeom>
          <a:noFill/>
          <a:ln/>
        </p:spPr>
        <p:txBody>
          <a:bodyPr wrap="square" lIns="0" tIns="0" rIns="0" bIns="0" rtlCol="0" anchor="t"/>
          <a:lstStyle/>
          <a:p>
            <a:pPr indent="0" marL="0">
              <a:buNone/>
            </a:pPr>
            <a:r>
              <a:rPr lang="en-US" sz="1600" b="1" dirty="0">
                <a:solidFill>
                  <a:schemeClr val="tx2"/>
                </a:solidFill>
              </a:rPr>
              <a:t>OneLake catalog</a:t>
            </a:r>
            <a:endParaRPr lang="en-US" sz="1600" dirty="0"/>
          </a:p>
        </p:txBody>
      </p:sp>
      <p:sp>
        <p:nvSpPr>
          <p:cNvPr id="16" name="catalog list"/>
          <p:cNvSpPr txBox="1"/>
          <p:nvPr/>
        </p:nvSpPr>
        <p:spPr>
          <a:xfrm>
            <a:off x="6629400" y="2423160"/>
            <a:ext cx="1965960" cy="18288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Explore: find trusted data</a:t>
            </a:r>
            <a:endParaRPr lang="en-US" sz="1200" dirty="0"/>
          </a:p>
          <a:p>
            <a:pPr marL="342900" indent="-342900">
              <a:spcAft>
                <a:spcPts val="600"/>
              </a:spcAft>
              <a:buSzPct val="100000"/>
              <a:buChar char="•"/>
            </a:pPr>
            <a:r>
              <a:rPr lang="en-US" sz="1200" dirty="0">
                <a:solidFill>
                  <a:schemeClr val="tx1"/>
                </a:solidFill>
              </a:rPr>
              <a:t>Govern: labels, endorsement, data health</a:t>
            </a:r>
            <a:endParaRPr lang="en-US" sz="1200" dirty="0"/>
          </a:p>
          <a:p>
            <a:pPr marL="342900" indent="-342900">
              <a:spcAft>
                <a:spcPts val="600"/>
              </a:spcAft>
              <a:buSzPct val="100000"/>
              <a:buChar char="•"/>
            </a:pPr>
            <a:r>
              <a:rPr lang="en-US" sz="1200" dirty="0">
                <a:solidFill>
                  <a:schemeClr val="tx1"/>
                </a:solidFill>
              </a:rPr>
              <a:t>Admin tenant settings live here too</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Copilot in Fabric: where it helps</a:t>
            </a:r>
            <a:endParaRPr lang="en-US" sz="2800" dirty="0"/>
          </a:p>
        </p:txBody>
      </p:sp>
      <p:sp>
        <p:nvSpPr>
          <p:cNvPr id="3" name="copilot card 0"/>
          <p:cNvSpPr/>
          <p:nvPr/>
        </p:nvSpPr>
        <p:spPr>
          <a:xfrm>
            <a:off x="457200" y="1188720"/>
            <a:ext cx="4023360" cy="1280160"/>
          </a:xfrm>
          <a:prstGeom prst="roundRect">
            <a:avLst>
              <a:gd name="adj" fmla="val 5714"/>
            </a:avLst>
          </a:prstGeom>
          <a:solidFill>
            <a:schemeClr val="bg2"/>
          </a:solidFill>
          <a:ln w="9525">
            <a:solidFill>
              <a:schemeClr val="accent6"/>
            </a:solidFill>
            <a:prstDash val="solid"/>
          </a:ln>
        </p:spPr>
      </p:sp>
      <p:sp>
        <p:nvSpPr>
          <p:cNvPr id="4" name="copilot icon 0 circle"/>
          <p:cNvSpPr/>
          <p:nvPr/>
        </p:nvSpPr>
        <p:spPr>
          <a:xfrm>
            <a:off x="685800" y="1536192"/>
            <a:ext cx="594360" cy="594360"/>
          </a:xfrm>
          <a:prstGeom prst="ellipse">
            <a:avLst/>
          </a:prstGeom>
          <a:solidFill>
            <a:schemeClr val="bg2"/>
          </a:solidFill>
          <a:ln w="12700">
            <a:solidFill>
              <a:schemeClr val="bg2"/>
            </a:solidFill>
            <a:prstDash val="solid"/>
          </a:ln>
        </p:spPr>
      </p:sp>
      <p:pic>
        <p:nvPicPr>
          <p:cNvPr id="5" name="copilot icon 0" descr="preencoded.png">    </p:cNvPr>
          <p:cNvPicPr>
            <a:picLocks noChangeAspect="1"/>
          </p:cNvPicPr>
          <p:nvPr/>
        </p:nvPicPr>
        <p:blipFill>
          <a:blip r:embed="rId1"/>
          <a:stretch>
            <a:fillRect/>
          </a:stretch>
        </p:blipFill>
        <p:spPr>
          <a:xfrm>
            <a:off x="828446" y="1678838"/>
            <a:ext cx="309067" cy="309067"/>
          </a:xfrm>
          <a:prstGeom prst="rect">
            <a:avLst/>
          </a:prstGeom>
        </p:spPr>
      </p:pic>
      <p:sp>
        <p:nvSpPr>
          <p:cNvPr id="6" name="copilot title 0"/>
          <p:cNvSpPr txBox="1"/>
          <p:nvPr/>
        </p:nvSpPr>
        <p:spPr>
          <a:xfrm>
            <a:off x="1463040" y="1463040"/>
            <a:ext cx="2834640" cy="365760"/>
          </a:xfrm>
          <a:prstGeom prst="rect">
            <a:avLst/>
          </a:prstGeom>
          <a:noFill/>
          <a:ln/>
        </p:spPr>
        <p:txBody>
          <a:bodyPr wrap="square" lIns="0" tIns="0" rIns="0" bIns="0" rtlCol="0" anchor="t"/>
          <a:lstStyle/>
          <a:p>
            <a:pPr indent="0" marL="0">
              <a:buNone/>
            </a:pPr>
            <a:r>
              <a:rPr lang="en-US" sz="1700" b="1" dirty="0">
                <a:solidFill>
                  <a:schemeClr val="tx2"/>
                </a:solidFill>
              </a:rPr>
              <a:t>Notebooks</a:t>
            </a:r>
            <a:endParaRPr lang="en-US" sz="1700" dirty="0"/>
          </a:p>
        </p:txBody>
      </p:sp>
      <p:sp>
        <p:nvSpPr>
          <p:cNvPr id="7" name="copilot desc 0"/>
          <p:cNvSpPr txBox="1"/>
          <p:nvPr/>
        </p:nvSpPr>
        <p:spPr>
          <a:xfrm>
            <a:off x="1463040" y="1847088"/>
            <a:ext cx="2834640" cy="502920"/>
          </a:xfrm>
          <a:prstGeom prst="rect">
            <a:avLst/>
          </a:prstGeom>
          <a:noFill/>
          <a:ln/>
        </p:spPr>
        <p:txBody>
          <a:bodyPr wrap="square" lIns="0" tIns="0" rIns="0" bIns="0" rtlCol="0" anchor="t"/>
          <a:lstStyle/>
          <a:p>
            <a:pPr indent="0" marL="0">
              <a:buNone/>
            </a:pPr>
            <a:r>
              <a:rPr lang="en-US" sz="1300" dirty="0">
                <a:solidFill>
                  <a:schemeClr val="tx1"/>
                </a:solidFill>
              </a:rPr>
              <a:t>Writes and explains PySpark / SQL, fixes errors</a:t>
            </a:r>
            <a:endParaRPr lang="en-US" sz="1300" dirty="0"/>
          </a:p>
        </p:txBody>
      </p:sp>
      <p:sp>
        <p:nvSpPr>
          <p:cNvPr id="8" name="copilot card 1"/>
          <p:cNvSpPr/>
          <p:nvPr/>
        </p:nvSpPr>
        <p:spPr>
          <a:xfrm>
            <a:off x="4663440" y="1188720"/>
            <a:ext cx="4023360" cy="1280160"/>
          </a:xfrm>
          <a:prstGeom prst="roundRect">
            <a:avLst>
              <a:gd name="adj" fmla="val 5714"/>
            </a:avLst>
          </a:prstGeom>
          <a:solidFill>
            <a:schemeClr val="bg2"/>
          </a:solidFill>
          <a:ln w="9525">
            <a:solidFill>
              <a:schemeClr val="accent6"/>
            </a:solidFill>
            <a:prstDash val="solid"/>
          </a:ln>
        </p:spPr>
      </p:sp>
      <p:sp>
        <p:nvSpPr>
          <p:cNvPr id="9" name="copilot icon 1 circle"/>
          <p:cNvSpPr/>
          <p:nvPr/>
        </p:nvSpPr>
        <p:spPr>
          <a:xfrm>
            <a:off x="4892040" y="1536192"/>
            <a:ext cx="594360" cy="594360"/>
          </a:xfrm>
          <a:prstGeom prst="ellipse">
            <a:avLst/>
          </a:prstGeom>
          <a:solidFill>
            <a:schemeClr val="bg2"/>
          </a:solidFill>
          <a:ln w="12700">
            <a:solidFill>
              <a:schemeClr val="bg2"/>
            </a:solidFill>
            <a:prstDash val="solid"/>
          </a:ln>
        </p:spPr>
      </p:sp>
      <p:pic>
        <p:nvPicPr>
          <p:cNvPr id="10" name="copilot icon 1" descr="preencoded.png">    </p:cNvPr>
          <p:cNvPicPr>
            <a:picLocks noChangeAspect="1"/>
          </p:cNvPicPr>
          <p:nvPr/>
        </p:nvPicPr>
        <p:blipFill>
          <a:blip r:embed="rId2"/>
          <a:stretch>
            <a:fillRect/>
          </a:stretch>
        </p:blipFill>
        <p:spPr>
          <a:xfrm>
            <a:off x="5034686" y="1678838"/>
            <a:ext cx="309067" cy="309067"/>
          </a:xfrm>
          <a:prstGeom prst="rect">
            <a:avLst/>
          </a:prstGeom>
        </p:spPr>
      </p:pic>
      <p:sp>
        <p:nvSpPr>
          <p:cNvPr id="11" name="copilot title 1"/>
          <p:cNvSpPr txBox="1"/>
          <p:nvPr/>
        </p:nvSpPr>
        <p:spPr>
          <a:xfrm>
            <a:off x="5669280" y="1463040"/>
            <a:ext cx="2834640" cy="365760"/>
          </a:xfrm>
          <a:prstGeom prst="rect">
            <a:avLst/>
          </a:prstGeom>
          <a:noFill/>
          <a:ln/>
        </p:spPr>
        <p:txBody>
          <a:bodyPr wrap="square" lIns="0" tIns="0" rIns="0" bIns="0" rtlCol="0" anchor="t"/>
          <a:lstStyle/>
          <a:p>
            <a:pPr indent="0" marL="0">
              <a:buNone/>
            </a:pPr>
            <a:r>
              <a:rPr lang="en-US" sz="1700" b="1" dirty="0">
                <a:solidFill>
                  <a:schemeClr val="tx2"/>
                </a:solidFill>
              </a:rPr>
              <a:t>Data Factory</a:t>
            </a:r>
            <a:endParaRPr lang="en-US" sz="1700" dirty="0"/>
          </a:p>
        </p:txBody>
      </p:sp>
      <p:sp>
        <p:nvSpPr>
          <p:cNvPr id="12" name="copilot desc 1"/>
          <p:cNvSpPr txBox="1"/>
          <p:nvPr/>
        </p:nvSpPr>
        <p:spPr>
          <a:xfrm>
            <a:off x="5669280" y="1847088"/>
            <a:ext cx="2834640" cy="502920"/>
          </a:xfrm>
          <a:prstGeom prst="rect">
            <a:avLst/>
          </a:prstGeom>
          <a:noFill/>
          <a:ln/>
        </p:spPr>
        <p:txBody>
          <a:bodyPr wrap="square" lIns="0" tIns="0" rIns="0" bIns="0" rtlCol="0" anchor="t"/>
          <a:lstStyle/>
          <a:p>
            <a:pPr indent="0" marL="0">
              <a:buNone/>
            </a:pPr>
            <a:r>
              <a:rPr lang="en-US" sz="1300" dirty="0">
                <a:solidFill>
                  <a:schemeClr val="tx1"/>
                </a:solidFill>
              </a:rPr>
              <a:t>Builds Dataflow Gen2 transformations from prompts</a:t>
            </a:r>
            <a:endParaRPr lang="en-US" sz="1300" dirty="0"/>
          </a:p>
        </p:txBody>
      </p:sp>
      <p:sp>
        <p:nvSpPr>
          <p:cNvPr id="13" name="copilot card 2"/>
          <p:cNvSpPr/>
          <p:nvPr/>
        </p:nvSpPr>
        <p:spPr>
          <a:xfrm>
            <a:off x="457200" y="2606040"/>
            <a:ext cx="4023360" cy="1280160"/>
          </a:xfrm>
          <a:prstGeom prst="roundRect">
            <a:avLst>
              <a:gd name="adj" fmla="val 5714"/>
            </a:avLst>
          </a:prstGeom>
          <a:solidFill>
            <a:schemeClr val="bg2"/>
          </a:solidFill>
          <a:ln w="9525">
            <a:solidFill>
              <a:schemeClr val="accent6"/>
            </a:solidFill>
            <a:prstDash val="solid"/>
          </a:ln>
        </p:spPr>
      </p:sp>
      <p:sp>
        <p:nvSpPr>
          <p:cNvPr id="14" name="copilot icon 2 circle"/>
          <p:cNvSpPr/>
          <p:nvPr/>
        </p:nvSpPr>
        <p:spPr>
          <a:xfrm>
            <a:off x="685800" y="2953512"/>
            <a:ext cx="594360" cy="594360"/>
          </a:xfrm>
          <a:prstGeom prst="ellipse">
            <a:avLst/>
          </a:prstGeom>
          <a:solidFill>
            <a:schemeClr val="bg2"/>
          </a:solidFill>
          <a:ln w="12700">
            <a:solidFill>
              <a:schemeClr val="bg2"/>
            </a:solidFill>
            <a:prstDash val="solid"/>
          </a:ln>
        </p:spPr>
      </p:sp>
      <p:pic>
        <p:nvPicPr>
          <p:cNvPr id="15" name="copilot icon 2" descr="preencoded.png">    </p:cNvPr>
          <p:cNvPicPr>
            <a:picLocks noChangeAspect="1"/>
          </p:cNvPicPr>
          <p:nvPr/>
        </p:nvPicPr>
        <p:blipFill>
          <a:blip r:embed="rId3"/>
          <a:stretch>
            <a:fillRect/>
          </a:stretch>
        </p:blipFill>
        <p:spPr>
          <a:xfrm>
            <a:off x="828446" y="3096158"/>
            <a:ext cx="309067" cy="309067"/>
          </a:xfrm>
          <a:prstGeom prst="rect">
            <a:avLst/>
          </a:prstGeom>
        </p:spPr>
      </p:pic>
      <p:sp>
        <p:nvSpPr>
          <p:cNvPr id="16" name="copilot title 2"/>
          <p:cNvSpPr txBox="1"/>
          <p:nvPr/>
        </p:nvSpPr>
        <p:spPr>
          <a:xfrm>
            <a:off x="1463040" y="2880360"/>
            <a:ext cx="2834640" cy="365760"/>
          </a:xfrm>
          <a:prstGeom prst="rect">
            <a:avLst/>
          </a:prstGeom>
          <a:noFill/>
          <a:ln/>
        </p:spPr>
        <p:txBody>
          <a:bodyPr wrap="square" lIns="0" tIns="0" rIns="0" bIns="0" rtlCol="0" anchor="t"/>
          <a:lstStyle/>
          <a:p>
            <a:pPr indent="0" marL="0">
              <a:buNone/>
            </a:pPr>
            <a:r>
              <a:rPr lang="en-US" sz="1700" b="1" dirty="0">
                <a:solidFill>
                  <a:schemeClr val="tx2"/>
                </a:solidFill>
              </a:rPr>
              <a:t>Power BI</a:t>
            </a:r>
            <a:endParaRPr lang="en-US" sz="1700" dirty="0"/>
          </a:p>
        </p:txBody>
      </p:sp>
      <p:sp>
        <p:nvSpPr>
          <p:cNvPr id="17" name="copilot desc 2"/>
          <p:cNvSpPr txBox="1"/>
          <p:nvPr/>
        </p:nvSpPr>
        <p:spPr>
          <a:xfrm>
            <a:off x="1463040" y="3264408"/>
            <a:ext cx="2834640" cy="502920"/>
          </a:xfrm>
          <a:prstGeom prst="rect">
            <a:avLst/>
          </a:prstGeom>
          <a:noFill/>
          <a:ln/>
        </p:spPr>
        <p:txBody>
          <a:bodyPr wrap="square" lIns="0" tIns="0" rIns="0" bIns="0" rtlCol="0" anchor="t"/>
          <a:lstStyle/>
          <a:p>
            <a:pPr indent="0" marL="0">
              <a:buNone/>
            </a:pPr>
            <a:r>
              <a:rPr lang="en-US" sz="1300" dirty="0">
                <a:solidFill>
                  <a:schemeClr val="tx1"/>
                </a:solidFill>
              </a:rPr>
              <a:t>Creates report pages, summaries and measures</a:t>
            </a:r>
            <a:endParaRPr lang="en-US" sz="1300" dirty="0"/>
          </a:p>
        </p:txBody>
      </p:sp>
      <p:sp>
        <p:nvSpPr>
          <p:cNvPr id="18" name="copilot card 3"/>
          <p:cNvSpPr/>
          <p:nvPr/>
        </p:nvSpPr>
        <p:spPr>
          <a:xfrm>
            <a:off x="4663440" y="2606040"/>
            <a:ext cx="4023360" cy="1280160"/>
          </a:xfrm>
          <a:prstGeom prst="roundRect">
            <a:avLst>
              <a:gd name="adj" fmla="val 5714"/>
            </a:avLst>
          </a:prstGeom>
          <a:solidFill>
            <a:schemeClr val="bg2"/>
          </a:solidFill>
          <a:ln w="9525">
            <a:solidFill>
              <a:schemeClr val="accent6"/>
            </a:solidFill>
            <a:prstDash val="solid"/>
          </a:ln>
        </p:spPr>
      </p:sp>
      <p:sp>
        <p:nvSpPr>
          <p:cNvPr id="19" name="copilot icon 3 circle"/>
          <p:cNvSpPr/>
          <p:nvPr/>
        </p:nvSpPr>
        <p:spPr>
          <a:xfrm>
            <a:off x="4892040" y="2953512"/>
            <a:ext cx="594360" cy="594360"/>
          </a:xfrm>
          <a:prstGeom prst="ellipse">
            <a:avLst/>
          </a:prstGeom>
          <a:solidFill>
            <a:schemeClr val="bg2"/>
          </a:solidFill>
          <a:ln w="12700">
            <a:solidFill>
              <a:schemeClr val="bg2"/>
            </a:solidFill>
            <a:prstDash val="solid"/>
          </a:ln>
        </p:spPr>
      </p:sp>
      <p:pic>
        <p:nvPicPr>
          <p:cNvPr id="20" name="copilot icon 3" descr="preencoded.png">    </p:cNvPr>
          <p:cNvPicPr>
            <a:picLocks noChangeAspect="1"/>
          </p:cNvPicPr>
          <p:nvPr/>
        </p:nvPicPr>
        <p:blipFill>
          <a:blip r:embed="rId4"/>
          <a:stretch>
            <a:fillRect/>
          </a:stretch>
        </p:blipFill>
        <p:spPr>
          <a:xfrm>
            <a:off x="5034686" y="3096158"/>
            <a:ext cx="309067" cy="309067"/>
          </a:xfrm>
          <a:prstGeom prst="rect">
            <a:avLst/>
          </a:prstGeom>
        </p:spPr>
      </p:pic>
      <p:sp>
        <p:nvSpPr>
          <p:cNvPr id="21" name="copilot title 3"/>
          <p:cNvSpPr txBox="1"/>
          <p:nvPr/>
        </p:nvSpPr>
        <p:spPr>
          <a:xfrm>
            <a:off x="5669280" y="2880360"/>
            <a:ext cx="2834640" cy="365760"/>
          </a:xfrm>
          <a:prstGeom prst="rect">
            <a:avLst/>
          </a:prstGeom>
          <a:noFill/>
          <a:ln/>
        </p:spPr>
        <p:txBody>
          <a:bodyPr wrap="square" lIns="0" tIns="0" rIns="0" bIns="0" rtlCol="0" anchor="t"/>
          <a:lstStyle/>
          <a:p>
            <a:pPr indent="0" marL="0">
              <a:buNone/>
            </a:pPr>
            <a:r>
              <a:rPr lang="en-US" sz="1700" b="1" dirty="0">
                <a:solidFill>
                  <a:schemeClr val="tx2"/>
                </a:solidFill>
              </a:rPr>
              <a:t>Data agents</a:t>
            </a:r>
            <a:endParaRPr lang="en-US" sz="1700" dirty="0"/>
          </a:p>
        </p:txBody>
      </p:sp>
      <p:sp>
        <p:nvSpPr>
          <p:cNvPr id="22" name="copilot desc 3"/>
          <p:cNvSpPr txBox="1"/>
          <p:nvPr/>
        </p:nvSpPr>
        <p:spPr>
          <a:xfrm>
            <a:off x="5669280" y="3264408"/>
            <a:ext cx="2834640" cy="502920"/>
          </a:xfrm>
          <a:prstGeom prst="rect">
            <a:avLst/>
          </a:prstGeom>
          <a:noFill/>
          <a:ln/>
        </p:spPr>
        <p:txBody>
          <a:bodyPr wrap="square" lIns="0" tIns="0" rIns="0" bIns="0" rtlCol="0" anchor="t"/>
          <a:lstStyle/>
          <a:p>
            <a:pPr indent="0" marL="0">
              <a:buNone/>
            </a:pPr>
            <a:r>
              <a:rPr lang="en-US" sz="1300" dirty="0">
                <a:solidFill>
                  <a:schemeClr val="tx1"/>
                </a:solidFill>
              </a:rPr>
              <a:t>Natural-language Q&amp;A over governed data</a:t>
            </a:r>
            <a:endParaRPr lang="en-US" sz="1300" dirty="0"/>
          </a:p>
        </p:txBody>
      </p:sp>
      <p:sp>
        <p:nvSpPr>
          <p:cNvPr id="23" name="copilot req"/>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200" i="1" dirty="0">
                <a:solidFill>
                  <a:schemeClr val="accent5"/>
                </a:solidFill>
              </a:rPr>
              <a:t>Needs a paid capacity (F2+ or Power BI Premium P1+) and Copilot tenant settings. Trial capacities aren't supported.</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Fabric IQ: the semantic foundation for AI</a:t>
            </a:r>
            <a:endParaRPr lang="en-US" sz="2800" dirty="0"/>
          </a:p>
        </p:txBody>
      </p:sp>
      <p:sp>
        <p:nvSpPr>
          <p:cNvPr id="3" name="iq layer 0"/>
          <p:cNvSpPr/>
          <p:nvPr/>
        </p:nvSpPr>
        <p:spPr>
          <a:xfrm>
            <a:off x="1554480" y="1143000"/>
            <a:ext cx="4754880" cy="713232"/>
          </a:xfrm>
          <a:prstGeom prst="roundRect">
            <a:avLst>
              <a:gd name="adj" fmla="val 10256"/>
            </a:avLst>
          </a:prstGeom>
          <a:solidFill>
            <a:schemeClr val="accent3"/>
          </a:solidFill>
          <a:ln w="12700">
            <a:solidFill>
              <a:schemeClr val="accent3"/>
            </a:solidFill>
            <a:prstDash val="solid"/>
          </a:ln>
        </p:spPr>
      </p:sp>
      <p:sp>
        <p:nvSpPr>
          <p:cNvPr id="4" name="iq layer text 0"/>
          <p:cNvSpPr txBox="1"/>
          <p:nvPr/>
        </p:nvSpPr>
        <p:spPr>
          <a:xfrm>
            <a:off x="1691640" y="1143000"/>
            <a:ext cx="4480560" cy="713232"/>
          </a:xfrm>
          <a:prstGeom prst="rect">
            <a:avLst/>
          </a:prstGeom>
          <a:noFill/>
          <a:ln/>
        </p:spPr>
        <p:txBody>
          <a:bodyPr wrap="square" lIns="0" tIns="0" rIns="0" bIns="0" rtlCol="0" anchor="ctr"/>
          <a:lstStyle/>
          <a:p>
            <a:pPr algn="ctr" indent="0" marL="0">
              <a:buNone/>
            </a:pPr>
            <a:r>
              <a:rPr lang="en-US" sz="1500" b="1" dirty="0">
                <a:solidFill>
                  <a:schemeClr val="tx2"/>
                </a:solidFill>
              </a:rPr>
              <a:t>Agents</a:t>
            </a:r>
            <a:endParaRPr lang="en-US" sz="1400" dirty="0"/>
          </a:p>
          <a:p>
            <a:pPr algn="ctr" indent="0" marL="0">
              <a:buNone/>
            </a:pPr>
            <a:r>
              <a:rPr lang="en-US" sz="1100" dirty="0">
                <a:solidFill>
                  <a:schemeClr val="tx2"/>
                </a:solidFill>
              </a:rPr>
              <a:t>Data agents answer questions · operations agents watch and act</a:t>
            </a:r>
            <a:endParaRPr lang="en-US" sz="1400" dirty="0"/>
          </a:p>
        </p:txBody>
      </p:sp>
      <p:sp>
        <p:nvSpPr>
          <p:cNvPr id="5" name="iq layer 1"/>
          <p:cNvSpPr/>
          <p:nvPr/>
        </p:nvSpPr>
        <p:spPr>
          <a:xfrm>
            <a:off x="1280160" y="1947672"/>
            <a:ext cx="5303520" cy="713232"/>
          </a:xfrm>
          <a:prstGeom prst="roundRect">
            <a:avLst>
              <a:gd name="adj" fmla="val 10256"/>
            </a:avLst>
          </a:prstGeom>
          <a:solidFill>
            <a:schemeClr val="accent4"/>
          </a:solidFill>
          <a:ln w="12700">
            <a:solidFill>
              <a:schemeClr val="accent4"/>
            </a:solidFill>
            <a:prstDash val="solid"/>
          </a:ln>
        </p:spPr>
      </p:sp>
      <p:sp>
        <p:nvSpPr>
          <p:cNvPr id="6" name="iq layer text 1"/>
          <p:cNvSpPr txBox="1"/>
          <p:nvPr/>
        </p:nvSpPr>
        <p:spPr>
          <a:xfrm>
            <a:off x="1417320" y="1947672"/>
            <a:ext cx="5029200" cy="713232"/>
          </a:xfrm>
          <a:prstGeom prst="rect">
            <a:avLst/>
          </a:prstGeom>
          <a:noFill/>
          <a:ln/>
        </p:spPr>
        <p:txBody>
          <a:bodyPr wrap="square" lIns="0" tIns="0" rIns="0" bIns="0" rtlCol="0" anchor="ctr"/>
          <a:lstStyle/>
          <a:p>
            <a:pPr algn="ctr" indent="0" marL="0">
              <a:buNone/>
            </a:pPr>
            <a:r>
              <a:rPr lang="en-US" sz="1500" b="1" dirty="0">
                <a:solidFill>
                  <a:schemeClr val="tx2"/>
                </a:solidFill>
              </a:rPr>
              <a:t>Ontology (preview)</a:t>
            </a:r>
            <a:endParaRPr lang="en-US" sz="1400" dirty="0"/>
          </a:p>
          <a:p>
            <a:pPr algn="ctr" indent="0" marL="0">
              <a:buNone/>
            </a:pPr>
            <a:r>
              <a:rPr lang="en-US" sz="1100" dirty="0">
                <a:solidFill>
                  <a:schemeClr val="tx2"/>
                </a:solidFill>
              </a:rPr>
              <a:t>Entity types, relationships, rules, metrics: the plant's language</a:t>
            </a:r>
            <a:endParaRPr lang="en-US" sz="1400" dirty="0"/>
          </a:p>
        </p:txBody>
      </p:sp>
      <p:sp>
        <p:nvSpPr>
          <p:cNvPr id="7" name="iq layer 2"/>
          <p:cNvSpPr/>
          <p:nvPr/>
        </p:nvSpPr>
        <p:spPr>
          <a:xfrm>
            <a:off x="1005840" y="2752344"/>
            <a:ext cx="5852160" cy="713232"/>
          </a:xfrm>
          <a:prstGeom prst="roundRect">
            <a:avLst>
              <a:gd name="adj" fmla="val 10256"/>
            </a:avLst>
          </a:prstGeom>
          <a:solidFill>
            <a:schemeClr val="accent2"/>
          </a:solidFill>
          <a:ln w="12700">
            <a:solidFill>
              <a:schemeClr val="accent2"/>
            </a:solidFill>
            <a:prstDash val="solid"/>
          </a:ln>
        </p:spPr>
      </p:sp>
      <p:sp>
        <p:nvSpPr>
          <p:cNvPr id="8" name="iq layer text 2"/>
          <p:cNvSpPr txBox="1"/>
          <p:nvPr/>
        </p:nvSpPr>
        <p:spPr>
          <a:xfrm>
            <a:off x="1143000" y="2752344"/>
            <a:ext cx="5577840" cy="713232"/>
          </a:xfrm>
          <a:prstGeom prst="rect">
            <a:avLst/>
          </a:prstGeom>
          <a:noFill/>
          <a:ln/>
        </p:spPr>
        <p:txBody>
          <a:bodyPr wrap="square" lIns="0" tIns="0" rIns="0" bIns="0" rtlCol="0" anchor="ctr"/>
          <a:lstStyle/>
          <a:p>
            <a:pPr algn="ctr" indent="0" marL="0">
              <a:buNone/>
            </a:pPr>
            <a:r>
              <a:rPr lang="en-US" sz="1500" b="1" dirty="0">
                <a:solidFill>
                  <a:schemeClr val="tx2"/>
                </a:solidFill>
              </a:rPr>
              <a:t>Semantic models</a:t>
            </a:r>
            <a:endParaRPr lang="en-US" sz="1400" dirty="0"/>
          </a:p>
          <a:p>
            <a:pPr algn="ctr" indent="0" marL="0">
              <a:buNone/>
            </a:pPr>
            <a:r>
              <a:rPr lang="en-US" sz="1100" dirty="0">
                <a:solidFill>
                  <a:schemeClr val="tx2"/>
                </a:solidFill>
              </a:rPr>
              <a:t>Measures and definitions shared with Power BI</a:t>
            </a:r>
            <a:endParaRPr lang="en-US" sz="1400" dirty="0"/>
          </a:p>
        </p:txBody>
      </p:sp>
      <p:sp>
        <p:nvSpPr>
          <p:cNvPr id="9" name="iq layer 3"/>
          <p:cNvSpPr/>
          <p:nvPr/>
        </p:nvSpPr>
        <p:spPr>
          <a:xfrm>
            <a:off x="731520" y="3557016"/>
            <a:ext cx="6400800" cy="713232"/>
          </a:xfrm>
          <a:prstGeom prst="roundRect">
            <a:avLst>
              <a:gd name="adj" fmla="val 10256"/>
            </a:avLst>
          </a:prstGeom>
          <a:solidFill>
            <a:schemeClr val="accent1"/>
          </a:solidFill>
          <a:ln w="12700">
            <a:solidFill>
              <a:schemeClr val="accent1"/>
            </a:solidFill>
            <a:prstDash val="solid"/>
          </a:ln>
        </p:spPr>
      </p:sp>
      <p:sp>
        <p:nvSpPr>
          <p:cNvPr id="10" name="iq layer text 3"/>
          <p:cNvSpPr txBox="1"/>
          <p:nvPr/>
        </p:nvSpPr>
        <p:spPr>
          <a:xfrm>
            <a:off x="868680" y="3557016"/>
            <a:ext cx="6126480" cy="713232"/>
          </a:xfrm>
          <a:prstGeom prst="rect">
            <a:avLst/>
          </a:prstGeom>
          <a:noFill/>
          <a:ln/>
        </p:spPr>
        <p:txBody>
          <a:bodyPr wrap="square" lIns="0" tIns="0" rIns="0" bIns="0" rtlCol="0" anchor="ctr"/>
          <a:lstStyle/>
          <a:p>
            <a:pPr algn="ctr" indent="0" marL="0">
              <a:buNone/>
            </a:pPr>
            <a:r>
              <a:rPr lang="en-US" sz="1500" b="1" dirty="0">
                <a:solidFill>
                  <a:schemeClr val="bg1"/>
                </a:solidFill>
              </a:rPr>
              <a:t>OneLake</a:t>
            </a:r>
            <a:endParaRPr lang="en-US" sz="1400" dirty="0"/>
          </a:p>
          <a:p>
            <a:pPr algn="ctr" indent="0" marL="0">
              <a:buNone/>
            </a:pPr>
            <a:r>
              <a:rPr lang="en-US" sz="1100" dirty="0">
                <a:solidFill>
                  <a:schemeClr val="bg1"/>
                </a:solidFill>
              </a:rPr>
              <a:t>Unified, governed data foundation</a:t>
            </a:r>
            <a:endParaRPr lang="en-US" sz="1400" dirty="0"/>
          </a:p>
        </p:txBody>
      </p:sp>
      <p:sp>
        <p:nvSpPr>
          <p:cNvPr id="11" name="iq why"/>
          <p:cNvSpPr txBox="1"/>
          <p:nvPr/>
        </p:nvSpPr>
        <p:spPr>
          <a:xfrm>
            <a:off x="7543800" y="1188720"/>
            <a:ext cx="1188720" cy="3108960"/>
          </a:xfrm>
          <a:prstGeom prst="rect">
            <a:avLst/>
          </a:prstGeom>
          <a:noFill/>
          <a:ln/>
        </p:spPr>
        <p:txBody>
          <a:bodyPr wrap="square" lIns="0" tIns="0" rIns="0" bIns="0" rtlCol="0" anchor="t"/>
          <a:lstStyle/>
          <a:p>
            <a:pPr indent="0" marL="0">
              <a:buNone/>
            </a:pPr>
            <a:r>
              <a:rPr lang="en-US" sz="1500" b="1" dirty="0">
                <a:solidFill>
                  <a:schemeClr val="tx2"/>
                </a:solidFill>
              </a:rPr>
              <a:t>Why it matters</a:t>
            </a:r>
            <a:endParaRPr lang="en-US" sz="1400" dirty="0"/>
          </a:p>
          <a:p>
            <a:pPr indent="0" marL="0">
              <a:buNone/>
            </a:pPr>
            <a:r>
              <a:rPr lang="en-US" sz="1200" dirty="0">
                <a:solidFill>
                  <a:schemeClr val="tx1"/>
                </a:solidFill>
              </a:rPr>
              <a:t>Define “unit”, “open work order” or “unplanned downtime” once, and every agent and report uses the same meaning.</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An ontology for the refinery (Lab 3)</a:t>
            </a:r>
            <a:endParaRPr lang="en-US" sz="2800" dirty="0"/>
          </a:p>
        </p:txBody>
      </p:sp>
      <p:sp>
        <p:nvSpPr>
          <p:cNvPr id="3" name="node unit"/>
          <p:cNvSpPr/>
          <p:nvPr/>
        </p:nvSpPr>
        <p:spPr>
          <a:xfrm>
            <a:off x="457200" y="1463040"/>
            <a:ext cx="1737360" cy="640080"/>
          </a:xfrm>
          <a:prstGeom prst="roundRect">
            <a:avLst>
              <a:gd name="adj" fmla="val 14286"/>
            </a:avLst>
          </a:prstGeom>
          <a:solidFill>
            <a:schemeClr val="tx2"/>
          </a:solidFill>
          <a:ln w="12700">
            <a:solidFill>
              <a:schemeClr val="tx2"/>
            </a:solidFill>
            <a:prstDash val="solid"/>
          </a:ln>
        </p:spPr>
      </p:sp>
      <p:sp>
        <p:nvSpPr>
          <p:cNvPr id="4" name="node unit label"/>
          <p:cNvSpPr txBox="1"/>
          <p:nvPr/>
        </p:nvSpPr>
        <p:spPr>
          <a:xfrm>
            <a:off x="457200" y="1463040"/>
            <a:ext cx="1737360" cy="640080"/>
          </a:xfrm>
          <a:prstGeom prst="rect">
            <a:avLst/>
          </a:prstGeom>
          <a:noFill/>
          <a:ln/>
        </p:spPr>
        <p:txBody>
          <a:bodyPr wrap="square" lIns="0" tIns="0" rIns="0" bIns="0" rtlCol="0" anchor="ctr"/>
          <a:lstStyle/>
          <a:p>
            <a:pPr algn="ctr" indent="0" marL="0">
              <a:buNone/>
            </a:pPr>
            <a:r>
              <a:rPr lang="en-US" sz="1400" b="1" dirty="0">
                <a:solidFill>
                  <a:schemeClr val="bg1"/>
                </a:solidFill>
              </a:rPr>
              <a:t>Unit</a:t>
            </a:r>
            <a:endParaRPr lang="en-US" sz="1400" dirty="0"/>
          </a:p>
        </p:txBody>
      </p:sp>
      <p:sp>
        <p:nvSpPr>
          <p:cNvPr id="5" name="node equipment"/>
          <p:cNvSpPr/>
          <p:nvPr/>
        </p:nvSpPr>
        <p:spPr>
          <a:xfrm>
            <a:off x="3017520" y="1463040"/>
            <a:ext cx="1737360" cy="640080"/>
          </a:xfrm>
          <a:prstGeom prst="roundRect">
            <a:avLst>
              <a:gd name="adj" fmla="val 14286"/>
            </a:avLst>
          </a:prstGeom>
          <a:solidFill>
            <a:schemeClr val="accent1"/>
          </a:solidFill>
          <a:ln w="12700">
            <a:solidFill>
              <a:schemeClr val="accent1"/>
            </a:solidFill>
            <a:prstDash val="solid"/>
          </a:ln>
        </p:spPr>
      </p:sp>
      <p:sp>
        <p:nvSpPr>
          <p:cNvPr id="6" name="node equipment label"/>
          <p:cNvSpPr txBox="1"/>
          <p:nvPr/>
        </p:nvSpPr>
        <p:spPr>
          <a:xfrm>
            <a:off x="3017520" y="1463040"/>
            <a:ext cx="1737360" cy="640080"/>
          </a:xfrm>
          <a:prstGeom prst="rect">
            <a:avLst/>
          </a:prstGeom>
          <a:noFill/>
          <a:ln/>
        </p:spPr>
        <p:txBody>
          <a:bodyPr wrap="square" lIns="0" tIns="0" rIns="0" bIns="0" rtlCol="0" anchor="ctr"/>
          <a:lstStyle/>
          <a:p>
            <a:pPr algn="ctr" indent="0" marL="0">
              <a:buNone/>
            </a:pPr>
            <a:r>
              <a:rPr lang="en-US" sz="1400" b="1" dirty="0">
                <a:solidFill>
                  <a:schemeClr val="bg1"/>
                </a:solidFill>
              </a:rPr>
              <a:t>Equipment</a:t>
            </a:r>
            <a:endParaRPr lang="en-US" sz="1400" dirty="0"/>
          </a:p>
        </p:txBody>
      </p:sp>
      <p:sp>
        <p:nvSpPr>
          <p:cNvPr id="7" name="node wo"/>
          <p:cNvSpPr/>
          <p:nvPr/>
        </p:nvSpPr>
        <p:spPr>
          <a:xfrm>
            <a:off x="5577840" y="1463040"/>
            <a:ext cx="1737360" cy="640080"/>
          </a:xfrm>
          <a:prstGeom prst="roundRect">
            <a:avLst>
              <a:gd name="adj" fmla="val 14286"/>
            </a:avLst>
          </a:prstGeom>
          <a:solidFill>
            <a:schemeClr val="accent5"/>
          </a:solidFill>
          <a:ln w="12700">
            <a:solidFill>
              <a:schemeClr val="accent5"/>
            </a:solidFill>
            <a:prstDash val="solid"/>
          </a:ln>
        </p:spPr>
      </p:sp>
      <p:sp>
        <p:nvSpPr>
          <p:cNvPr id="8" name="node wo label"/>
          <p:cNvSpPr txBox="1"/>
          <p:nvPr/>
        </p:nvSpPr>
        <p:spPr>
          <a:xfrm>
            <a:off x="5577840" y="1463040"/>
            <a:ext cx="1737360" cy="640080"/>
          </a:xfrm>
          <a:prstGeom prst="rect">
            <a:avLst/>
          </a:prstGeom>
          <a:noFill/>
          <a:ln/>
        </p:spPr>
        <p:txBody>
          <a:bodyPr wrap="square" lIns="0" tIns="0" rIns="0" bIns="0" rtlCol="0" anchor="ctr"/>
          <a:lstStyle/>
          <a:p>
            <a:pPr algn="ctr" indent="0" marL="0">
              <a:buNone/>
            </a:pPr>
            <a:r>
              <a:rPr lang="en-US" sz="1400" b="1" dirty="0">
                <a:solidFill>
                  <a:schemeClr val="bg1"/>
                </a:solidFill>
              </a:rPr>
              <a:t>Work Order</a:t>
            </a:r>
            <a:endParaRPr lang="en-US" sz="1400" dirty="0"/>
          </a:p>
        </p:txBody>
      </p:sp>
      <p:sp>
        <p:nvSpPr>
          <p:cNvPr id="9" name="node downtime"/>
          <p:cNvSpPr/>
          <p:nvPr/>
        </p:nvSpPr>
        <p:spPr>
          <a:xfrm>
            <a:off x="3017520" y="3108960"/>
            <a:ext cx="1737360" cy="640080"/>
          </a:xfrm>
          <a:prstGeom prst="roundRect">
            <a:avLst>
              <a:gd name="adj" fmla="val 14286"/>
            </a:avLst>
          </a:prstGeom>
          <a:solidFill>
            <a:schemeClr val="accent5"/>
          </a:solidFill>
          <a:ln w="12700">
            <a:solidFill>
              <a:schemeClr val="accent5"/>
            </a:solidFill>
            <a:prstDash val="solid"/>
          </a:ln>
        </p:spPr>
      </p:sp>
      <p:sp>
        <p:nvSpPr>
          <p:cNvPr id="10" name="node downtime label"/>
          <p:cNvSpPr txBox="1"/>
          <p:nvPr/>
        </p:nvSpPr>
        <p:spPr>
          <a:xfrm>
            <a:off x="3017520" y="3108960"/>
            <a:ext cx="1737360" cy="640080"/>
          </a:xfrm>
          <a:prstGeom prst="rect">
            <a:avLst/>
          </a:prstGeom>
          <a:noFill/>
          <a:ln/>
        </p:spPr>
        <p:txBody>
          <a:bodyPr wrap="square" lIns="0" tIns="0" rIns="0" bIns="0" rtlCol="0" anchor="ctr"/>
          <a:lstStyle/>
          <a:p>
            <a:pPr algn="ctr" indent="0" marL="0">
              <a:buNone/>
            </a:pPr>
            <a:r>
              <a:rPr lang="en-US" sz="1400" b="1" dirty="0">
                <a:solidFill>
                  <a:schemeClr val="bg1"/>
                </a:solidFill>
              </a:rPr>
              <a:t>Downtime Event</a:t>
            </a:r>
            <a:endParaRPr lang="en-US" sz="1400" dirty="0"/>
          </a:p>
        </p:txBody>
      </p:sp>
      <p:sp>
        <p:nvSpPr>
          <p:cNvPr id="11" name="node production"/>
          <p:cNvSpPr/>
          <p:nvPr/>
        </p:nvSpPr>
        <p:spPr>
          <a:xfrm>
            <a:off x="457200" y="3108960"/>
            <a:ext cx="1737360" cy="640080"/>
          </a:xfrm>
          <a:prstGeom prst="roundRect">
            <a:avLst>
              <a:gd name="adj" fmla="val 14286"/>
            </a:avLst>
          </a:prstGeom>
          <a:solidFill>
            <a:schemeClr val="accent5"/>
          </a:solidFill>
          <a:ln w="12700">
            <a:solidFill>
              <a:schemeClr val="accent5"/>
            </a:solidFill>
            <a:prstDash val="solid"/>
          </a:ln>
        </p:spPr>
      </p:sp>
      <p:sp>
        <p:nvSpPr>
          <p:cNvPr id="12" name="node production label"/>
          <p:cNvSpPr txBox="1"/>
          <p:nvPr/>
        </p:nvSpPr>
        <p:spPr>
          <a:xfrm>
            <a:off x="457200" y="3108960"/>
            <a:ext cx="1737360" cy="640080"/>
          </a:xfrm>
          <a:prstGeom prst="rect">
            <a:avLst/>
          </a:prstGeom>
          <a:noFill/>
          <a:ln/>
        </p:spPr>
        <p:txBody>
          <a:bodyPr wrap="square" lIns="0" tIns="0" rIns="0" bIns="0" rtlCol="0" anchor="ctr"/>
          <a:lstStyle/>
          <a:p>
            <a:pPr algn="ctr" indent="0" marL="0">
              <a:buNone/>
            </a:pPr>
            <a:r>
              <a:rPr lang="en-US" sz="1400" b="1" dirty="0">
                <a:solidFill>
                  <a:schemeClr val="bg1"/>
                </a:solidFill>
              </a:rPr>
              <a:t>Production Record</a:t>
            </a:r>
            <a:endParaRPr lang="en-US" sz="1400" dirty="0"/>
          </a:p>
        </p:txBody>
      </p:sp>
      <p:sp>
        <p:nvSpPr>
          <p:cNvPr id="13" name="a hasEquipment"/>
          <p:cNvSpPr/>
          <p:nvPr/>
        </p:nvSpPr>
        <p:spPr>
          <a:xfrm>
            <a:off x="2194560" y="1783080"/>
            <a:ext cx="822960" cy="0"/>
          </a:xfrm>
          <a:prstGeom prst="line">
            <a:avLst/>
          </a:prstGeom>
          <a:noFill/>
          <a:ln w="25400">
            <a:solidFill>
              <a:schemeClr val="accent3"/>
            </a:solidFill>
            <a:prstDash val="solid"/>
            <a:tailEnd type="triangle"/>
          </a:ln>
        </p:spPr>
      </p:sp>
      <p:sp>
        <p:nvSpPr>
          <p:cNvPr id="14" name="a hasWorkOrder"/>
          <p:cNvSpPr/>
          <p:nvPr/>
        </p:nvSpPr>
        <p:spPr>
          <a:xfrm>
            <a:off x="4754880" y="1783080"/>
            <a:ext cx="822960" cy="0"/>
          </a:xfrm>
          <a:prstGeom prst="line">
            <a:avLst/>
          </a:prstGeom>
          <a:noFill/>
          <a:ln w="25400">
            <a:solidFill>
              <a:schemeClr val="accent3"/>
            </a:solidFill>
            <a:prstDash val="solid"/>
            <a:tailEnd type="triangle"/>
          </a:ln>
        </p:spPr>
      </p:sp>
      <p:sp>
        <p:nvSpPr>
          <p:cNvPr id="15" name="a hadDowntime"/>
          <p:cNvSpPr/>
          <p:nvPr/>
        </p:nvSpPr>
        <p:spPr>
          <a:xfrm>
            <a:off x="3886200" y="2103120"/>
            <a:ext cx="0" cy="1005840"/>
          </a:xfrm>
          <a:prstGeom prst="line">
            <a:avLst/>
          </a:prstGeom>
          <a:noFill/>
          <a:ln w="25400">
            <a:solidFill>
              <a:schemeClr val="accent3"/>
            </a:solidFill>
            <a:prstDash val="solid"/>
            <a:tailEnd type="triangle"/>
          </a:ln>
        </p:spPr>
      </p:sp>
      <p:sp>
        <p:nvSpPr>
          <p:cNvPr id="16" name="a recordedFor"/>
          <p:cNvSpPr/>
          <p:nvPr/>
        </p:nvSpPr>
        <p:spPr>
          <a:xfrm flipV="1">
            <a:off x="1325880" y="2103120"/>
            <a:ext cx="0" cy="1005840"/>
          </a:xfrm>
          <a:prstGeom prst="line">
            <a:avLst/>
          </a:prstGeom>
          <a:noFill/>
          <a:ln w="25400">
            <a:solidFill>
              <a:schemeClr val="accent3"/>
            </a:solidFill>
            <a:prstDash val="solid"/>
            <a:tailEnd type="triangle"/>
          </a:ln>
        </p:spPr>
      </p:sp>
      <p:sp>
        <p:nvSpPr>
          <p:cNvPr id="17" name="l hasEquipment"/>
          <p:cNvSpPr txBox="1"/>
          <p:nvPr/>
        </p:nvSpPr>
        <p:spPr>
          <a:xfrm>
            <a:off x="2148840" y="1463040"/>
            <a:ext cx="914400" cy="274320"/>
          </a:xfrm>
          <a:prstGeom prst="rect">
            <a:avLst/>
          </a:prstGeom>
          <a:noFill/>
          <a:ln/>
        </p:spPr>
        <p:txBody>
          <a:bodyPr wrap="square" lIns="0" tIns="0" rIns="0" bIns="0" rtlCol="0" anchor="t"/>
          <a:lstStyle/>
          <a:p>
            <a:pPr algn="ctr" indent="0" marL="0">
              <a:buNone/>
            </a:pPr>
            <a:r>
              <a:rPr lang="en-US" sz="1000" dirty="0">
                <a:solidFill>
                  <a:schemeClr val="accent5"/>
                </a:solidFill>
              </a:rPr>
              <a:t>hasEquipment</a:t>
            </a:r>
            <a:endParaRPr lang="en-US" sz="1000" dirty="0"/>
          </a:p>
        </p:txBody>
      </p:sp>
      <p:sp>
        <p:nvSpPr>
          <p:cNvPr id="18" name="l hasWorkOrder"/>
          <p:cNvSpPr txBox="1"/>
          <p:nvPr/>
        </p:nvSpPr>
        <p:spPr>
          <a:xfrm>
            <a:off x="4709160" y="1463040"/>
            <a:ext cx="914400" cy="274320"/>
          </a:xfrm>
          <a:prstGeom prst="rect">
            <a:avLst/>
          </a:prstGeom>
          <a:noFill/>
          <a:ln/>
        </p:spPr>
        <p:txBody>
          <a:bodyPr wrap="square" lIns="0" tIns="0" rIns="0" bIns="0" rtlCol="0" anchor="t"/>
          <a:lstStyle/>
          <a:p>
            <a:pPr algn="ctr" indent="0" marL="0">
              <a:buNone/>
            </a:pPr>
            <a:r>
              <a:rPr lang="en-US" sz="1000" dirty="0">
                <a:solidFill>
                  <a:schemeClr val="accent5"/>
                </a:solidFill>
              </a:rPr>
              <a:t>hasWorkOrder</a:t>
            </a:r>
            <a:endParaRPr lang="en-US" sz="1000" dirty="0"/>
          </a:p>
        </p:txBody>
      </p:sp>
      <p:sp>
        <p:nvSpPr>
          <p:cNvPr id="19" name="l hadDowntime"/>
          <p:cNvSpPr txBox="1"/>
          <p:nvPr/>
        </p:nvSpPr>
        <p:spPr>
          <a:xfrm>
            <a:off x="3977640" y="2468880"/>
            <a:ext cx="914400" cy="274320"/>
          </a:xfrm>
          <a:prstGeom prst="rect">
            <a:avLst/>
          </a:prstGeom>
          <a:noFill/>
          <a:ln/>
        </p:spPr>
        <p:txBody>
          <a:bodyPr wrap="square" lIns="0" tIns="0" rIns="0" bIns="0" rtlCol="0" anchor="t"/>
          <a:lstStyle/>
          <a:p>
            <a:pPr indent="0" marL="0">
              <a:buNone/>
            </a:pPr>
            <a:r>
              <a:rPr lang="en-US" sz="1000" dirty="0">
                <a:solidFill>
                  <a:schemeClr val="accent5"/>
                </a:solidFill>
              </a:rPr>
              <a:t>hadDowntime</a:t>
            </a:r>
            <a:endParaRPr lang="en-US" sz="1000" dirty="0"/>
          </a:p>
        </p:txBody>
      </p:sp>
      <p:sp>
        <p:nvSpPr>
          <p:cNvPr id="20" name="l recordedFor"/>
          <p:cNvSpPr txBox="1"/>
          <p:nvPr/>
        </p:nvSpPr>
        <p:spPr>
          <a:xfrm>
            <a:off x="1417320" y="2468880"/>
            <a:ext cx="914400" cy="274320"/>
          </a:xfrm>
          <a:prstGeom prst="rect">
            <a:avLst/>
          </a:prstGeom>
          <a:noFill/>
          <a:ln/>
        </p:spPr>
        <p:txBody>
          <a:bodyPr wrap="square" lIns="0" tIns="0" rIns="0" bIns="0" rtlCol="0" anchor="t"/>
          <a:lstStyle/>
          <a:p>
            <a:pPr indent="0" marL="0">
              <a:buNone/>
            </a:pPr>
            <a:r>
              <a:rPr lang="en-US" sz="1000" dirty="0">
                <a:solidFill>
                  <a:schemeClr val="accent5"/>
                </a:solidFill>
              </a:rPr>
              <a:t>recordedFor</a:t>
            </a:r>
            <a:endParaRPr lang="en-US" sz="1000" dirty="0"/>
          </a:p>
        </p:txBody>
      </p:sp>
      <p:sp>
        <p:nvSpPr>
          <p:cNvPr id="21" name="ontology steps card"/>
          <p:cNvSpPr/>
          <p:nvPr/>
        </p:nvSpPr>
        <p:spPr>
          <a:xfrm>
            <a:off x="5577840" y="2651760"/>
            <a:ext cx="3108960" cy="1691640"/>
          </a:xfrm>
          <a:prstGeom prst="roundRect">
            <a:avLst>
              <a:gd name="adj" fmla="val 4324"/>
            </a:avLst>
          </a:prstGeom>
          <a:solidFill>
            <a:schemeClr val="bg2"/>
          </a:solidFill>
          <a:ln w="9525">
            <a:solidFill>
              <a:schemeClr val="accent6"/>
            </a:solidFill>
            <a:prstDash val="solid"/>
          </a:ln>
        </p:spPr>
      </p:sp>
      <p:sp>
        <p:nvSpPr>
          <p:cNvPr id="22" name="ontology steps"/>
          <p:cNvSpPr txBox="1"/>
          <p:nvPr/>
        </p:nvSpPr>
        <p:spPr>
          <a:xfrm>
            <a:off x="5760720" y="2743200"/>
            <a:ext cx="2834640" cy="1554480"/>
          </a:xfrm>
          <a:prstGeom prst="rect">
            <a:avLst/>
          </a:prstGeom>
          <a:noFill/>
          <a:ln/>
        </p:spPr>
        <p:txBody>
          <a:bodyPr wrap="square" lIns="0" tIns="0" rIns="0" bIns="0" rtlCol="0" anchor="t"/>
          <a:lstStyle/>
          <a:p>
            <a:pPr indent="0" marL="0">
              <a:spcAft>
                <a:spcPts val="300"/>
              </a:spcAft>
              <a:buNone/>
            </a:pPr>
            <a:r>
              <a:rPr lang="en-US" sz="1400" b="1" dirty="0">
                <a:solidFill>
                  <a:schemeClr val="tx2"/>
                </a:solidFill>
              </a:rPr>
              <a:t>Build it in 4 steps</a:t>
            </a:r>
            <a:endParaRPr lang="en-US" sz="1200" dirty="0"/>
          </a:p>
          <a:p>
            <a:pPr marL="342900" indent="-342900">
              <a:spcAft>
                <a:spcPts val="300"/>
              </a:spcAft>
              <a:buSzPct val="100000"/>
              <a:buFont typeface="+mj-lt"/>
              <a:buAutoNum type="arabicPeriod" startAt="1"/>
            </a:pPr>
            <a:r>
              <a:rPr lang="en-US" sz="1200" dirty="0">
                <a:solidFill>
                  <a:schemeClr val="tx1"/>
                </a:solidFill>
              </a:rPr>
              <a:t>Add entity types</a:t>
            </a:r>
            <a:endParaRPr lang="en-US" sz="1200" dirty="0"/>
          </a:p>
          <a:p>
            <a:pPr marL="342900" indent="-342900">
              <a:spcAft>
                <a:spcPts val="300"/>
              </a:spcAft>
              <a:buSzPct val="100000"/>
              <a:buFont typeface="+mj-lt"/>
              <a:buAutoNum type="arabicPeriod" startAt="1"/>
            </a:pPr>
            <a:r>
              <a:rPr lang="en-US" sz="1200" dirty="0">
                <a:solidFill>
                  <a:schemeClr val="tx1"/>
                </a:solidFill>
              </a:rPr>
              <a:t>Bind to OneLake tables</a:t>
            </a:r>
            <a:endParaRPr lang="en-US" sz="1200" dirty="0"/>
          </a:p>
          <a:p>
            <a:pPr marL="342900" indent="-342900">
              <a:spcAft>
                <a:spcPts val="300"/>
              </a:spcAft>
              <a:buSzPct val="100000"/>
              <a:buFont typeface="+mj-lt"/>
              <a:buAutoNum type="arabicPeriod" startAt="1"/>
            </a:pPr>
            <a:r>
              <a:rPr lang="en-US" sz="1200" dirty="0">
                <a:solidFill>
                  <a:schemeClr val="tx1"/>
                </a:solidFill>
              </a:rPr>
              <a:t>Add relationships</a:t>
            </a:r>
            <a:endParaRPr lang="en-US" sz="1200" dirty="0"/>
          </a:p>
          <a:p>
            <a:pPr marL="342900" indent="-342900">
              <a:spcAft>
                <a:spcPts val="300"/>
              </a:spcAft>
              <a:buSzPct val="100000"/>
              <a:buFont typeface="+mj-lt"/>
              <a:buAutoNum type="arabicPeriod" startAt="1"/>
            </a:pPr>
            <a:r>
              <a:rPr lang="en-US" sz="1200" dirty="0">
                <a:solidFill>
                  <a:schemeClr val="tx1"/>
                </a:solidFill>
              </a:rPr>
              <a:t>Extend with the ontology agent</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From question to answer with a data agent</a:t>
            </a:r>
            <a:endParaRPr lang="en-US" sz="2800" dirty="0"/>
          </a:p>
        </p:txBody>
      </p:sp>
      <p:sp>
        <p:nvSpPr>
          <p:cNvPr id="3" name="flow card 0"/>
          <p:cNvSpPr/>
          <p:nvPr/>
        </p:nvSpPr>
        <p:spPr>
          <a:xfrm>
            <a:off x="457200" y="1280160"/>
            <a:ext cx="1920240" cy="2377440"/>
          </a:xfrm>
          <a:prstGeom prst="roundRect">
            <a:avLst>
              <a:gd name="adj" fmla="val 3810"/>
            </a:avLst>
          </a:prstGeom>
          <a:solidFill>
            <a:schemeClr val="bg2"/>
          </a:solidFill>
          <a:ln w="9525">
            <a:solidFill>
              <a:schemeClr val="accent6"/>
            </a:solidFill>
            <a:prstDash val="solid"/>
          </a:ln>
        </p:spPr>
      </p:sp>
      <p:sp>
        <p:nvSpPr>
          <p:cNvPr id="4" name="flow icon 0 circle"/>
          <p:cNvSpPr/>
          <p:nvPr/>
        </p:nvSpPr>
        <p:spPr>
          <a:xfrm>
            <a:off x="1097280" y="1463040"/>
            <a:ext cx="640080" cy="640080"/>
          </a:xfrm>
          <a:prstGeom prst="ellipse">
            <a:avLst/>
          </a:prstGeom>
          <a:solidFill>
            <a:schemeClr val="bg2"/>
          </a:solidFill>
          <a:ln w="12700">
            <a:solidFill>
              <a:schemeClr val="bg2"/>
            </a:solidFill>
            <a:prstDash val="solid"/>
          </a:ln>
        </p:spPr>
      </p:sp>
      <p:pic>
        <p:nvPicPr>
          <p:cNvPr id="5" name="flow icon 0" descr="preencoded.png">    </p:cNvPr>
          <p:cNvPicPr>
            <a:picLocks noChangeAspect="1"/>
          </p:cNvPicPr>
          <p:nvPr/>
        </p:nvPicPr>
        <p:blipFill>
          <a:blip r:embed="rId1"/>
          <a:stretch>
            <a:fillRect/>
          </a:stretch>
        </p:blipFill>
        <p:spPr>
          <a:xfrm>
            <a:off x="1250899" y="1616659"/>
            <a:ext cx="332842" cy="332842"/>
          </a:xfrm>
          <a:prstGeom prst="rect">
            <a:avLst/>
          </a:prstGeom>
        </p:spPr>
      </p:pic>
      <p:sp>
        <p:nvSpPr>
          <p:cNvPr id="6" name="flow title 0"/>
          <p:cNvSpPr txBox="1"/>
          <p:nvPr/>
        </p:nvSpPr>
        <p:spPr>
          <a:xfrm>
            <a:off x="594360" y="2240280"/>
            <a:ext cx="1645920" cy="365760"/>
          </a:xfrm>
          <a:prstGeom prst="rect">
            <a:avLst/>
          </a:prstGeom>
          <a:noFill/>
          <a:ln/>
        </p:spPr>
        <p:txBody>
          <a:bodyPr wrap="square" lIns="0" tIns="0" rIns="0" bIns="0" rtlCol="0" anchor="t"/>
          <a:lstStyle/>
          <a:p>
            <a:pPr algn="ctr" indent="0" marL="0">
              <a:buNone/>
            </a:pPr>
            <a:r>
              <a:rPr lang="en-US" sz="1700" b="1" dirty="0">
                <a:solidFill>
                  <a:schemeClr val="tx2"/>
                </a:solidFill>
              </a:rPr>
              <a:t>Ask</a:t>
            </a:r>
            <a:endParaRPr lang="en-US" sz="1700" dirty="0"/>
          </a:p>
        </p:txBody>
      </p:sp>
      <p:sp>
        <p:nvSpPr>
          <p:cNvPr id="7" name="flow desc 0"/>
          <p:cNvSpPr txBox="1"/>
          <p:nvPr/>
        </p:nvSpPr>
        <p:spPr>
          <a:xfrm>
            <a:off x="594360" y="2651760"/>
            <a:ext cx="1645920" cy="914400"/>
          </a:xfrm>
          <a:prstGeom prst="rect">
            <a:avLst/>
          </a:prstGeom>
          <a:noFill/>
          <a:ln/>
        </p:spPr>
        <p:txBody>
          <a:bodyPr wrap="square" lIns="0" tIns="0" rIns="0" bIns="0" rtlCol="0" anchor="t"/>
          <a:lstStyle/>
          <a:p>
            <a:pPr algn="ctr" indent="0" marL="0">
              <a:buNone/>
            </a:pPr>
            <a:r>
              <a:rPr lang="en-US" sz="1200" dirty="0">
                <a:solidFill>
                  <a:schemeClr val="tx1"/>
                </a:solidFill>
              </a:rPr>
              <a:t>“Which unit had the most unplanned downtime?”</a:t>
            </a:r>
            <a:endParaRPr lang="en-US" sz="1200" dirty="0"/>
          </a:p>
        </p:txBody>
      </p:sp>
      <p:sp>
        <p:nvSpPr>
          <p:cNvPr id="8" name="flow arrow 0"/>
          <p:cNvSpPr/>
          <p:nvPr/>
        </p:nvSpPr>
        <p:spPr>
          <a:xfrm>
            <a:off x="2395728" y="2468880"/>
            <a:ext cx="164592" cy="0"/>
          </a:xfrm>
          <a:prstGeom prst="line">
            <a:avLst/>
          </a:prstGeom>
          <a:noFill/>
          <a:ln w="25400">
            <a:solidFill>
              <a:schemeClr val="accent3"/>
            </a:solidFill>
            <a:prstDash val="solid"/>
            <a:tailEnd type="triangle"/>
          </a:ln>
        </p:spPr>
      </p:sp>
      <p:sp>
        <p:nvSpPr>
          <p:cNvPr id="9" name="flow card 1"/>
          <p:cNvSpPr/>
          <p:nvPr/>
        </p:nvSpPr>
        <p:spPr>
          <a:xfrm>
            <a:off x="2578608" y="1280160"/>
            <a:ext cx="1920240" cy="2377440"/>
          </a:xfrm>
          <a:prstGeom prst="roundRect">
            <a:avLst>
              <a:gd name="adj" fmla="val 3810"/>
            </a:avLst>
          </a:prstGeom>
          <a:solidFill>
            <a:schemeClr val="bg2"/>
          </a:solidFill>
          <a:ln w="9525">
            <a:solidFill>
              <a:schemeClr val="accent6"/>
            </a:solidFill>
            <a:prstDash val="solid"/>
          </a:ln>
        </p:spPr>
      </p:sp>
      <p:sp>
        <p:nvSpPr>
          <p:cNvPr id="10" name="flow icon 1 circle"/>
          <p:cNvSpPr/>
          <p:nvPr/>
        </p:nvSpPr>
        <p:spPr>
          <a:xfrm>
            <a:off x="3218688" y="1463040"/>
            <a:ext cx="640080" cy="640080"/>
          </a:xfrm>
          <a:prstGeom prst="ellipse">
            <a:avLst/>
          </a:prstGeom>
          <a:solidFill>
            <a:schemeClr val="bg2"/>
          </a:solidFill>
          <a:ln w="12700">
            <a:solidFill>
              <a:schemeClr val="bg2"/>
            </a:solidFill>
            <a:prstDash val="solid"/>
          </a:ln>
        </p:spPr>
      </p:sp>
      <p:pic>
        <p:nvPicPr>
          <p:cNvPr id="11" name="flow icon 1" descr="preencoded.png">    </p:cNvPr>
          <p:cNvPicPr>
            <a:picLocks noChangeAspect="1"/>
          </p:cNvPicPr>
          <p:nvPr/>
        </p:nvPicPr>
        <p:blipFill>
          <a:blip r:embed="rId2"/>
          <a:stretch>
            <a:fillRect/>
          </a:stretch>
        </p:blipFill>
        <p:spPr>
          <a:xfrm>
            <a:off x="3372307" y="1616659"/>
            <a:ext cx="332842" cy="332842"/>
          </a:xfrm>
          <a:prstGeom prst="rect">
            <a:avLst/>
          </a:prstGeom>
        </p:spPr>
      </p:pic>
      <p:sp>
        <p:nvSpPr>
          <p:cNvPr id="12" name="flow title 1"/>
          <p:cNvSpPr txBox="1"/>
          <p:nvPr/>
        </p:nvSpPr>
        <p:spPr>
          <a:xfrm>
            <a:off x="2715768" y="2240280"/>
            <a:ext cx="1645920" cy="365760"/>
          </a:xfrm>
          <a:prstGeom prst="rect">
            <a:avLst/>
          </a:prstGeom>
          <a:noFill/>
          <a:ln/>
        </p:spPr>
        <p:txBody>
          <a:bodyPr wrap="square" lIns="0" tIns="0" rIns="0" bIns="0" rtlCol="0" anchor="t"/>
          <a:lstStyle/>
          <a:p>
            <a:pPr algn="ctr" indent="0" marL="0">
              <a:buNone/>
            </a:pPr>
            <a:r>
              <a:rPr lang="en-US" sz="1700" b="1" dirty="0">
                <a:solidFill>
                  <a:schemeClr val="tx2"/>
                </a:solidFill>
              </a:rPr>
              <a:t>Understand</a:t>
            </a:r>
            <a:endParaRPr lang="en-US" sz="1700" dirty="0"/>
          </a:p>
        </p:txBody>
      </p:sp>
      <p:sp>
        <p:nvSpPr>
          <p:cNvPr id="13" name="flow desc 1"/>
          <p:cNvSpPr txBox="1"/>
          <p:nvPr/>
        </p:nvSpPr>
        <p:spPr>
          <a:xfrm>
            <a:off x="2715768" y="2651760"/>
            <a:ext cx="1645920" cy="914400"/>
          </a:xfrm>
          <a:prstGeom prst="rect">
            <a:avLst/>
          </a:prstGeom>
          <a:noFill/>
          <a:ln/>
        </p:spPr>
        <p:txBody>
          <a:bodyPr wrap="square" lIns="0" tIns="0" rIns="0" bIns="0" rtlCol="0" anchor="t"/>
          <a:lstStyle/>
          <a:p>
            <a:pPr algn="ctr" indent="0" marL="0">
              <a:buNone/>
            </a:pPr>
            <a:r>
              <a:rPr lang="en-US" sz="1200" dirty="0">
                <a:solidFill>
                  <a:schemeClr val="tx1"/>
                </a:solidFill>
              </a:rPr>
              <a:t>Ontology maps unit, equipment, downtime</a:t>
            </a:r>
            <a:endParaRPr lang="en-US" sz="1200" dirty="0"/>
          </a:p>
        </p:txBody>
      </p:sp>
      <p:sp>
        <p:nvSpPr>
          <p:cNvPr id="14" name="flow arrow 1"/>
          <p:cNvSpPr/>
          <p:nvPr/>
        </p:nvSpPr>
        <p:spPr>
          <a:xfrm>
            <a:off x="4517136" y="2468880"/>
            <a:ext cx="164592" cy="0"/>
          </a:xfrm>
          <a:prstGeom prst="line">
            <a:avLst/>
          </a:prstGeom>
          <a:noFill/>
          <a:ln w="25400">
            <a:solidFill>
              <a:schemeClr val="accent3"/>
            </a:solidFill>
            <a:prstDash val="solid"/>
            <a:tailEnd type="triangle"/>
          </a:ln>
        </p:spPr>
      </p:sp>
      <p:sp>
        <p:nvSpPr>
          <p:cNvPr id="15" name="flow card 2"/>
          <p:cNvSpPr/>
          <p:nvPr/>
        </p:nvSpPr>
        <p:spPr>
          <a:xfrm>
            <a:off x="4700016" y="1280160"/>
            <a:ext cx="1920240" cy="2377440"/>
          </a:xfrm>
          <a:prstGeom prst="roundRect">
            <a:avLst>
              <a:gd name="adj" fmla="val 3810"/>
            </a:avLst>
          </a:prstGeom>
          <a:solidFill>
            <a:schemeClr val="bg2"/>
          </a:solidFill>
          <a:ln w="9525">
            <a:solidFill>
              <a:schemeClr val="accent6"/>
            </a:solidFill>
            <a:prstDash val="solid"/>
          </a:ln>
        </p:spPr>
      </p:sp>
      <p:sp>
        <p:nvSpPr>
          <p:cNvPr id="16" name="flow icon 2 circle"/>
          <p:cNvSpPr/>
          <p:nvPr/>
        </p:nvSpPr>
        <p:spPr>
          <a:xfrm>
            <a:off x="5340096" y="1463040"/>
            <a:ext cx="640080" cy="640080"/>
          </a:xfrm>
          <a:prstGeom prst="ellipse">
            <a:avLst/>
          </a:prstGeom>
          <a:solidFill>
            <a:schemeClr val="bg2"/>
          </a:solidFill>
          <a:ln w="12700">
            <a:solidFill>
              <a:schemeClr val="bg2"/>
            </a:solidFill>
            <a:prstDash val="solid"/>
          </a:ln>
        </p:spPr>
      </p:sp>
      <p:pic>
        <p:nvPicPr>
          <p:cNvPr id="17" name="flow icon 2" descr="preencoded.png">    </p:cNvPr>
          <p:cNvPicPr>
            <a:picLocks noChangeAspect="1"/>
          </p:cNvPicPr>
          <p:nvPr/>
        </p:nvPicPr>
        <p:blipFill>
          <a:blip r:embed="rId3"/>
          <a:stretch>
            <a:fillRect/>
          </a:stretch>
        </p:blipFill>
        <p:spPr>
          <a:xfrm>
            <a:off x="5493715" y="1616659"/>
            <a:ext cx="332842" cy="332842"/>
          </a:xfrm>
          <a:prstGeom prst="rect">
            <a:avLst/>
          </a:prstGeom>
        </p:spPr>
      </p:pic>
      <p:sp>
        <p:nvSpPr>
          <p:cNvPr id="18" name="flow title 2"/>
          <p:cNvSpPr txBox="1"/>
          <p:nvPr/>
        </p:nvSpPr>
        <p:spPr>
          <a:xfrm>
            <a:off x="4837176" y="2240280"/>
            <a:ext cx="1645920" cy="365760"/>
          </a:xfrm>
          <a:prstGeom prst="rect">
            <a:avLst/>
          </a:prstGeom>
          <a:noFill/>
          <a:ln/>
        </p:spPr>
        <p:txBody>
          <a:bodyPr wrap="square" lIns="0" tIns="0" rIns="0" bIns="0" rtlCol="0" anchor="t"/>
          <a:lstStyle/>
          <a:p>
            <a:pPr algn="ctr" indent="0" marL="0">
              <a:buNone/>
            </a:pPr>
            <a:r>
              <a:rPr lang="en-US" sz="1700" b="1" dirty="0">
                <a:solidFill>
                  <a:schemeClr val="tx2"/>
                </a:solidFill>
              </a:rPr>
              <a:t>Query</a:t>
            </a:r>
            <a:endParaRPr lang="en-US" sz="1700" dirty="0"/>
          </a:p>
        </p:txBody>
      </p:sp>
      <p:sp>
        <p:nvSpPr>
          <p:cNvPr id="19" name="flow desc 2"/>
          <p:cNvSpPr txBox="1"/>
          <p:nvPr/>
        </p:nvSpPr>
        <p:spPr>
          <a:xfrm>
            <a:off x="4837176" y="2651760"/>
            <a:ext cx="1645920" cy="914400"/>
          </a:xfrm>
          <a:prstGeom prst="rect">
            <a:avLst/>
          </a:prstGeom>
          <a:noFill/>
          <a:ln/>
        </p:spPr>
        <p:txBody>
          <a:bodyPr wrap="square" lIns="0" tIns="0" rIns="0" bIns="0" rtlCol="0" anchor="t"/>
          <a:lstStyle/>
          <a:p>
            <a:pPr algn="ctr" indent="0" marL="0">
              <a:buNone/>
            </a:pPr>
            <a:r>
              <a:rPr lang="en-US" sz="1200" dirty="0">
                <a:solidFill>
                  <a:schemeClr val="tx1"/>
                </a:solidFill>
              </a:rPr>
              <a:t>Agent generates the query on bound data</a:t>
            </a:r>
            <a:endParaRPr lang="en-US" sz="1200" dirty="0"/>
          </a:p>
        </p:txBody>
      </p:sp>
      <p:sp>
        <p:nvSpPr>
          <p:cNvPr id="20" name="flow arrow 2"/>
          <p:cNvSpPr/>
          <p:nvPr/>
        </p:nvSpPr>
        <p:spPr>
          <a:xfrm>
            <a:off x="6638544" y="2468880"/>
            <a:ext cx="164592" cy="0"/>
          </a:xfrm>
          <a:prstGeom prst="line">
            <a:avLst/>
          </a:prstGeom>
          <a:noFill/>
          <a:ln w="25400">
            <a:solidFill>
              <a:schemeClr val="accent3"/>
            </a:solidFill>
            <a:prstDash val="solid"/>
            <a:tailEnd type="triangle"/>
          </a:ln>
        </p:spPr>
      </p:sp>
      <p:sp>
        <p:nvSpPr>
          <p:cNvPr id="21" name="flow card 3"/>
          <p:cNvSpPr/>
          <p:nvPr/>
        </p:nvSpPr>
        <p:spPr>
          <a:xfrm>
            <a:off x="6821424" y="1280160"/>
            <a:ext cx="1920240" cy="2377440"/>
          </a:xfrm>
          <a:prstGeom prst="roundRect">
            <a:avLst>
              <a:gd name="adj" fmla="val 3810"/>
            </a:avLst>
          </a:prstGeom>
          <a:solidFill>
            <a:schemeClr val="bg2"/>
          </a:solidFill>
          <a:ln w="9525">
            <a:solidFill>
              <a:schemeClr val="accent6"/>
            </a:solidFill>
            <a:prstDash val="solid"/>
          </a:ln>
        </p:spPr>
      </p:sp>
      <p:sp>
        <p:nvSpPr>
          <p:cNvPr id="22" name="flow icon 3 circle"/>
          <p:cNvSpPr/>
          <p:nvPr/>
        </p:nvSpPr>
        <p:spPr>
          <a:xfrm>
            <a:off x="7461504" y="1463040"/>
            <a:ext cx="640080" cy="640080"/>
          </a:xfrm>
          <a:prstGeom prst="ellipse">
            <a:avLst/>
          </a:prstGeom>
          <a:solidFill>
            <a:schemeClr val="bg2"/>
          </a:solidFill>
          <a:ln w="12700">
            <a:solidFill>
              <a:schemeClr val="bg2"/>
            </a:solidFill>
            <a:prstDash val="solid"/>
          </a:ln>
        </p:spPr>
      </p:sp>
      <p:pic>
        <p:nvPicPr>
          <p:cNvPr id="23" name="flow icon 3" descr="preencoded.png">    </p:cNvPr>
          <p:cNvPicPr>
            <a:picLocks noChangeAspect="1"/>
          </p:cNvPicPr>
          <p:nvPr/>
        </p:nvPicPr>
        <p:blipFill>
          <a:blip r:embed="rId4"/>
          <a:stretch>
            <a:fillRect/>
          </a:stretch>
        </p:blipFill>
        <p:spPr>
          <a:xfrm>
            <a:off x="7615123" y="1616659"/>
            <a:ext cx="332842" cy="332842"/>
          </a:xfrm>
          <a:prstGeom prst="rect">
            <a:avLst/>
          </a:prstGeom>
        </p:spPr>
      </p:pic>
      <p:sp>
        <p:nvSpPr>
          <p:cNvPr id="24" name="flow title 3"/>
          <p:cNvSpPr txBox="1"/>
          <p:nvPr/>
        </p:nvSpPr>
        <p:spPr>
          <a:xfrm>
            <a:off x="6958584" y="2240280"/>
            <a:ext cx="1645920" cy="365760"/>
          </a:xfrm>
          <a:prstGeom prst="rect">
            <a:avLst/>
          </a:prstGeom>
          <a:noFill/>
          <a:ln/>
        </p:spPr>
        <p:txBody>
          <a:bodyPr wrap="square" lIns="0" tIns="0" rIns="0" bIns="0" rtlCol="0" anchor="t"/>
          <a:lstStyle/>
          <a:p>
            <a:pPr algn="ctr" indent="0" marL="0">
              <a:buNone/>
            </a:pPr>
            <a:r>
              <a:rPr lang="en-US" sz="1700" b="1" dirty="0">
                <a:solidFill>
                  <a:schemeClr val="tx2"/>
                </a:solidFill>
              </a:rPr>
              <a:t>Answer</a:t>
            </a:r>
            <a:endParaRPr lang="en-US" sz="1700" dirty="0"/>
          </a:p>
        </p:txBody>
      </p:sp>
      <p:sp>
        <p:nvSpPr>
          <p:cNvPr id="25" name="flow desc 3"/>
          <p:cNvSpPr txBox="1"/>
          <p:nvPr/>
        </p:nvSpPr>
        <p:spPr>
          <a:xfrm>
            <a:off x="6958584" y="2651760"/>
            <a:ext cx="1645920" cy="914400"/>
          </a:xfrm>
          <a:prstGeom prst="rect">
            <a:avLst/>
          </a:prstGeom>
          <a:noFill/>
          <a:ln/>
        </p:spPr>
        <p:txBody>
          <a:bodyPr wrap="square" lIns="0" tIns="0" rIns="0" bIns="0" rtlCol="0" anchor="t"/>
          <a:lstStyle/>
          <a:p>
            <a:pPr algn="ctr" indent="0" marL="0">
              <a:buNone/>
            </a:pPr>
            <a:r>
              <a:rPr lang="en-US" sz="1200" dirty="0">
                <a:solidFill>
                  <a:schemeClr val="tx1"/>
                </a:solidFill>
              </a:rPr>
              <a:t>Short table + explanation, with the query visible</a:t>
            </a:r>
            <a:endParaRPr lang="en-US" sz="1200" dirty="0"/>
          </a:p>
        </p:txBody>
      </p:sp>
      <p:sp>
        <p:nvSpPr>
          <p:cNvPr id="26" name="trust note"/>
          <p:cNvSpPr txBox="1"/>
          <p:nvPr/>
        </p:nvSpPr>
        <p:spPr>
          <a:xfrm>
            <a:off x="457200" y="3931920"/>
            <a:ext cx="8229600" cy="365760"/>
          </a:xfrm>
          <a:prstGeom prst="rect">
            <a:avLst/>
          </a:prstGeom>
          <a:noFill/>
          <a:ln/>
        </p:spPr>
        <p:txBody>
          <a:bodyPr wrap="square" lIns="0" tIns="0" rIns="0" bIns="0" rtlCol="0" anchor="t"/>
          <a:lstStyle/>
          <a:p>
            <a:pPr indent="0" marL="0">
              <a:buNone/>
            </a:pPr>
            <a:r>
              <a:rPr lang="en-US" sz="1300" i="1" dirty="0">
                <a:solidFill>
                  <a:schemeClr val="accent1"/>
                </a:solidFill>
              </a:rPr>
              <a:t>Trust check: the agent shows the query it ran, and says when the data doesn't contain the answer.</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The SATORP reliability scenario: what we build</a:t>
            </a:r>
            <a:endParaRPr lang="en-US" sz="2800" dirty="0"/>
          </a:p>
        </p:txBody>
      </p:sp>
      <p:sp>
        <p:nvSpPr>
          <p:cNvPr id="3" name="arch head 0"/>
          <p:cNvSpPr/>
          <p:nvPr/>
        </p:nvSpPr>
        <p:spPr>
          <a:xfrm>
            <a:off x="457200" y="1188720"/>
            <a:ext cx="1920240" cy="502920"/>
          </a:xfrm>
          <a:prstGeom prst="roundRect">
            <a:avLst>
              <a:gd name="adj" fmla="val 14545"/>
            </a:avLst>
          </a:prstGeom>
          <a:solidFill>
            <a:schemeClr val="accent5"/>
          </a:solidFill>
          <a:ln w="12700">
            <a:solidFill>
              <a:schemeClr val="accent5"/>
            </a:solidFill>
            <a:prstDash val="solid"/>
          </a:ln>
        </p:spPr>
      </p:sp>
      <p:sp>
        <p:nvSpPr>
          <p:cNvPr id="4" name="arch head text 0"/>
          <p:cNvSpPr txBox="1"/>
          <p:nvPr/>
        </p:nvSpPr>
        <p:spPr>
          <a:xfrm>
            <a:off x="457200" y="1188720"/>
            <a:ext cx="1920240" cy="502920"/>
          </a:xfrm>
          <a:prstGeom prst="rect">
            <a:avLst/>
          </a:prstGeom>
          <a:noFill/>
          <a:ln/>
        </p:spPr>
        <p:txBody>
          <a:bodyPr wrap="square" lIns="0" tIns="0" rIns="0" bIns="0" rtlCol="0" anchor="ctr"/>
          <a:lstStyle/>
          <a:p>
            <a:pPr algn="ctr" indent="0" marL="0">
              <a:buNone/>
            </a:pPr>
            <a:r>
              <a:rPr lang="en-US" sz="1400" b="1" dirty="0">
                <a:solidFill>
                  <a:schemeClr val="bg1"/>
                </a:solidFill>
              </a:rPr>
              <a:t>Sources (sample)</a:t>
            </a:r>
            <a:endParaRPr lang="en-US" sz="1400" dirty="0"/>
          </a:p>
        </p:txBody>
      </p:sp>
      <p:sp>
        <p:nvSpPr>
          <p:cNvPr id="5" name="arch item 0-0"/>
          <p:cNvSpPr/>
          <p:nvPr/>
        </p:nvSpPr>
        <p:spPr>
          <a:xfrm>
            <a:off x="457200" y="1828800"/>
            <a:ext cx="1920240" cy="512064"/>
          </a:xfrm>
          <a:prstGeom prst="roundRect">
            <a:avLst>
              <a:gd name="adj" fmla="val 10714"/>
            </a:avLst>
          </a:prstGeom>
          <a:solidFill>
            <a:schemeClr val="bg2"/>
          </a:solidFill>
          <a:ln w="9525">
            <a:solidFill>
              <a:schemeClr val="accent6"/>
            </a:solidFill>
            <a:prstDash val="solid"/>
          </a:ln>
        </p:spPr>
      </p:sp>
      <p:sp>
        <p:nvSpPr>
          <p:cNvPr id="6" name="arch item text 0-0"/>
          <p:cNvSpPr txBox="1"/>
          <p:nvPr/>
        </p:nvSpPr>
        <p:spPr>
          <a:xfrm>
            <a:off x="548640" y="1828800"/>
            <a:ext cx="1737360" cy="512064"/>
          </a:xfrm>
          <a:prstGeom prst="rect">
            <a:avLst/>
          </a:prstGeom>
          <a:noFill/>
          <a:ln/>
        </p:spPr>
        <p:txBody>
          <a:bodyPr wrap="square" lIns="0" tIns="0" rIns="0" bIns="0" rtlCol="0" anchor="ctr"/>
          <a:lstStyle/>
          <a:p>
            <a:pPr algn="ctr" indent="0" marL="0">
              <a:buNone/>
            </a:pPr>
            <a:r>
              <a:rPr lang="en-US" sz="1200" dirty="0">
                <a:solidFill>
                  <a:schemeClr val="tx2"/>
                </a:solidFill>
              </a:rPr>
              <a:t>Production daily</a:t>
            </a:r>
            <a:endParaRPr lang="en-US" sz="1200" dirty="0"/>
          </a:p>
        </p:txBody>
      </p:sp>
      <p:sp>
        <p:nvSpPr>
          <p:cNvPr id="7" name="arch item 0-1"/>
          <p:cNvSpPr/>
          <p:nvPr/>
        </p:nvSpPr>
        <p:spPr>
          <a:xfrm>
            <a:off x="457200" y="2450592"/>
            <a:ext cx="1920240" cy="512064"/>
          </a:xfrm>
          <a:prstGeom prst="roundRect">
            <a:avLst>
              <a:gd name="adj" fmla="val 10714"/>
            </a:avLst>
          </a:prstGeom>
          <a:solidFill>
            <a:schemeClr val="bg2"/>
          </a:solidFill>
          <a:ln w="9525">
            <a:solidFill>
              <a:schemeClr val="accent6"/>
            </a:solidFill>
            <a:prstDash val="solid"/>
          </a:ln>
        </p:spPr>
      </p:sp>
      <p:sp>
        <p:nvSpPr>
          <p:cNvPr id="8" name="arch item text 0-1"/>
          <p:cNvSpPr txBox="1"/>
          <p:nvPr/>
        </p:nvSpPr>
        <p:spPr>
          <a:xfrm>
            <a:off x="548640" y="2450592"/>
            <a:ext cx="1737360" cy="512064"/>
          </a:xfrm>
          <a:prstGeom prst="rect">
            <a:avLst/>
          </a:prstGeom>
          <a:noFill/>
          <a:ln/>
        </p:spPr>
        <p:txBody>
          <a:bodyPr wrap="square" lIns="0" tIns="0" rIns="0" bIns="0" rtlCol="0" anchor="ctr"/>
          <a:lstStyle/>
          <a:p>
            <a:pPr algn="ctr" indent="0" marL="0">
              <a:buNone/>
            </a:pPr>
            <a:r>
              <a:rPr lang="en-US" sz="1200" dirty="0">
                <a:solidFill>
                  <a:schemeClr val="tx2"/>
                </a:solidFill>
              </a:rPr>
              <a:t>Equipment &amp; units</a:t>
            </a:r>
            <a:endParaRPr lang="en-US" sz="1200" dirty="0"/>
          </a:p>
        </p:txBody>
      </p:sp>
      <p:sp>
        <p:nvSpPr>
          <p:cNvPr id="9" name="arch item 0-2"/>
          <p:cNvSpPr/>
          <p:nvPr/>
        </p:nvSpPr>
        <p:spPr>
          <a:xfrm>
            <a:off x="457200" y="3072384"/>
            <a:ext cx="1920240" cy="512064"/>
          </a:xfrm>
          <a:prstGeom prst="roundRect">
            <a:avLst>
              <a:gd name="adj" fmla="val 10714"/>
            </a:avLst>
          </a:prstGeom>
          <a:solidFill>
            <a:schemeClr val="bg2"/>
          </a:solidFill>
          <a:ln w="9525">
            <a:solidFill>
              <a:schemeClr val="accent6"/>
            </a:solidFill>
            <a:prstDash val="solid"/>
          </a:ln>
        </p:spPr>
      </p:sp>
      <p:sp>
        <p:nvSpPr>
          <p:cNvPr id="10" name="arch item text 0-2"/>
          <p:cNvSpPr txBox="1"/>
          <p:nvPr/>
        </p:nvSpPr>
        <p:spPr>
          <a:xfrm>
            <a:off x="548640" y="3072384"/>
            <a:ext cx="1737360" cy="512064"/>
          </a:xfrm>
          <a:prstGeom prst="rect">
            <a:avLst/>
          </a:prstGeom>
          <a:noFill/>
          <a:ln/>
        </p:spPr>
        <p:txBody>
          <a:bodyPr wrap="square" lIns="0" tIns="0" rIns="0" bIns="0" rtlCol="0" anchor="ctr"/>
          <a:lstStyle/>
          <a:p>
            <a:pPr algn="ctr" indent="0" marL="0">
              <a:buNone/>
            </a:pPr>
            <a:r>
              <a:rPr lang="en-US" sz="1200" dirty="0">
                <a:solidFill>
                  <a:schemeClr val="tx2"/>
                </a:solidFill>
              </a:rPr>
              <a:t>Work orders</a:t>
            </a:r>
            <a:endParaRPr lang="en-US" sz="1200" dirty="0"/>
          </a:p>
        </p:txBody>
      </p:sp>
      <p:sp>
        <p:nvSpPr>
          <p:cNvPr id="11" name="arch item 0-3"/>
          <p:cNvSpPr/>
          <p:nvPr/>
        </p:nvSpPr>
        <p:spPr>
          <a:xfrm>
            <a:off x="457200" y="3694176"/>
            <a:ext cx="1920240" cy="512064"/>
          </a:xfrm>
          <a:prstGeom prst="roundRect">
            <a:avLst>
              <a:gd name="adj" fmla="val 10714"/>
            </a:avLst>
          </a:prstGeom>
          <a:solidFill>
            <a:schemeClr val="bg2"/>
          </a:solidFill>
          <a:ln w="9525">
            <a:solidFill>
              <a:schemeClr val="accent6"/>
            </a:solidFill>
            <a:prstDash val="solid"/>
          </a:ln>
        </p:spPr>
      </p:sp>
      <p:sp>
        <p:nvSpPr>
          <p:cNvPr id="12" name="arch item text 0-3"/>
          <p:cNvSpPr txBox="1"/>
          <p:nvPr/>
        </p:nvSpPr>
        <p:spPr>
          <a:xfrm>
            <a:off x="548640" y="3694176"/>
            <a:ext cx="1737360" cy="512064"/>
          </a:xfrm>
          <a:prstGeom prst="rect">
            <a:avLst/>
          </a:prstGeom>
          <a:noFill/>
          <a:ln/>
        </p:spPr>
        <p:txBody>
          <a:bodyPr wrap="square" lIns="0" tIns="0" rIns="0" bIns="0" rtlCol="0" anchor="ctr"/>
          <a:lstStyle/>
          <a:p>
            <a:pPr algn="ctr" indent="0" marL="0">
              <a:buNone/>
            </a:pPr>
            <a:r>
              <a:rPr lang="en-US" sz="1200" dirty="0">
                <a:solidFill>
                  <a:schemeClr val="tx2"/>
                </a:solidFill>
              </a:rPr>
              <a:t>Downtime events</a:t>
            </a:r>
            <a:endParaRPr lang="en-US" sz="1200" dirty="0"/>
          </a:p>
        </p:txBody>
      </p:sp>
      <p:sp>
        <p:nvSpPr>
          <p:cNvPr id="13" name="arch arrow 0"/>
          <p:cNvSpPr/>
          <p:nvPr/>
        </p:nvSpPr>
        <p:spPr>
          <a:xfrm>
            <a:off x="2395728" y="1435608"/>
            <a:ext cx="164592" cy="0"/>
          </a:xfrm>
          <a:prstGeom prst="line">
            <a:avLst/>
          </a:prstGeom>
          <a:noFill/>
          <a:ln w="25400">
            <a:solidFill>
              <a:schemeClr val="accent3"/>
            </a:solidFill>
            <a:prstDash val="solid"/>
            <a:tailEnd type="triangle"/>
          </a:ln>
        </p:spPr>
      </p:sp>
      <p:sp>
        <p:nvSpPr>
          <p:cNvPr id="14" name="arch head 1"/>
          <p:cNvSpPr/>
          <p:nvPr/>
        </p:nvSpPr>
        <p:spPr>
          <a:xfrm>
            <a:off x="2578608" y="1188720"/>
            <a:ext cx="1920240" cy="502920"/>
          </a:xfrm>
          <a:prstGeom prst="roundRect">
            <a:avLst>
              <a:gd name="adj" fmla="val 14545"/>
            </a:avLst>
          </a:prstGeom>
          <a:solidFill>
            <a:schemeClr val="accent1"/>
          </a:solidFill>
          <a:ln w="12700">
            <a:solidFill>
              <a:schemeClr val="accent1"/>
            </a:solidFill>
            <a:prstDash val="solid"/>
          </a:ln>
        </p:spPr>
      </p:sp>
      <p:sp>
        <p:nvSpPr>
          <p:cNvPr id="15" name="arch head text 1"/>
          <p:cNvSpPr txBox="1"/>
          <p:nvPr/>
        </p:nvSpPr>
        <p:spPr>
          <a:xfrm>
            <a:off x="2578608" y="1188720"/>
            <a:ext cx="1920240" cy="502920"/>
          </a:xfrm>
          <a:prstGeom prst="rect">
            <a:avLst/>
          </a:prstGeom>
          <a:noFill/>
          <a:ln/>
        </p:spPr>
        <p:txBody>
          <a:bodyPr wrap="square" lIns="0" tIns="0" rIns="0" bIns="0" rtlCol="0" anchor="ctr"/>
          <a:lstStyle/>
          <a:p>
            <a:pPr algn="ctr" indent="0" marL="0">
              <a:buNone/>
            </a:pPr>
            <a:r>
              <a:rPr lang="en-US" sz="1400" b="1" dirty="0">
                <a:solidFill>
                  <a:schemeClr val="bg1"/>
                </a:solidFill>
              </a:rPr>
              <a:t>OneLake</a:t>
            </a:r>
            <a:endParaRPr lang="en-US" sz="1400" dirty="0"/>
          </a:p>
        </p:txBody>
      </p:sp>
      <p:sp>
        <p:nvSpPr>
          <p:cNvPr id="16" name="arch item 1-0"/>
          <p:cNvSpPr/>
          <p:nvPr/>
        </p:nvSpPr>
        <p:spPr>
          <a:xfrm>
            <a:off x="2578608" y="1828800"/>
            <a:ext cx="1920240" cy="512064"/>
          </a:xfrm>
          <a:prstGeom prst="roundRect">
            <a:avLst>
              <a:gd name="adj" fmla="val 10714"/>
            </a:avLst>
          </a:prstGeom>
          <a:solidFill>
            <a:schemeClr val="bg2"/>
          </a:solidFill>
          <a:ln w="9525">
            <a:solidFill>
              <a:schemeClr val="accent6"/>
            </a:solidFill>
            <a:prstDash val="solid"/>
          </a:ln>
        </p:spPr>
      </p:sp>
      <p:sp>
        <p:nvSpPr>
          <p:cNvPr id="17" name="arch item text 1-0"/>
          <p:cNvSpPr txBox="1"/>
          <p:nvPr/>
        </p:nvSpPr>
        <p:spPr>
          <a:xfrm>
            <a:off x="2670048" y="1828800"/>
            <a:ext cx="1737360" cy="512064"/>
          </a:xfrm>
          <a:prstGeom prst="rect">
            <a:avLst/>
          </a:prstGeom>
          <a:noFill/>
          <a:ln/>
        </p:spPr>
        <p:txBody>
          <a:bodyPr wrap="square" lIns="0" tIns="0" rIns="0" bIns="0" rtlCol="0" anchor="ctr"/>
          <a:lstStyle/>
          <a:p>
            <a:pPr algn="ctr" indent="0" marL="0">
              <a:buNone/>
            </a:pPr>
            <a:r>
              <a:rPr lang="en-US" sz="1200" dirty="0">
                <a:solidFill>
                  <a:schemeClr val="tx2"/>
                </a:solidFill>
              </a:rPr>
              <a:t>Refinery_LH</a:t>
            </a:r>
            <a:endParaRPr lang="en-US" sz="1200" dirty="0"/>
          </a:p>
        </p:txBody>
      </p:sp>
      <p:sp>
        <p:nvSpPr>
          <p:cNvPr id="18" name="arch item 1-1"/>
          <p:cNvSpPr/>
          <p:nvPr/>
        </p:nvSpPr>
        <p:spPr>
          <a:xfrm>
            <a:off x="2578608" y="2450592"/>
            <a:ext cx="1920240" cy="512064"/>
          </a:xfrm>
          <a:prstGeom prst="roundRect">
            <a:avLst>
              <a:gd name="adj" fmla="val 10714"/>
            </a:avLst>
          </a:prstGeom>
          <a:solidFill>
            <a:schemeClr val="bg2"/>
          </a:solidFill>
          <a:ln w="9525">
            <a:solidFill>
              <a:schemeClr val="accent6"/>
            </a:solidFill>
            <a:prstDash val="solid"/>
          </a:ln>
        </p:spPr>
      </p:sp>
      <p:sp>
        <p:nvSpPr>
          <p:cNvPr id="19" name="arch item text 1-1"/>
          <p:cNvSpPr txBox="1"/>
          <p:nvPr/>
        </p:nvSpPr>
        <p:spPr>
          <a:xfrm>
            <a:off x="2670048" y="2450592"/>
            <a:ext cx="1737360" cy="512064"/>
          </a:xfrm>
          <a:prstGeom prst="rect">
            <a:avLst/>
          </a:prstGeom>
          <a:noFill/>
          <a:ln/>
        </p:spPr>
        <p:txBody>
          <a:bodyPr wrap="square" lIns="0" tIns="0" rIns="0" bIns="0" rtlCol="0" anchor="ctr"/>
          <a:lstStyle/>
          <a:p>
            <a:pPr algn="ctr" indent="0" marL="0">
              <a:buNone/>
            </a:pPr>
            <a:r>
              <a:rPr lang="en-US" sz="1200" dirty="0">
                <a:solidFill>
                  <a:schemeClr val="tx2"/>
                </a:solidFill>
              </a:rPr>
              <a:t>Reliability_LH</a:t>
            </a:r>
            <a:endParaRPr lang="en-US" sz="1200" dirty="0"/>
          </a:p>
        </p:txBody>
      </p:sp>
      <p:sp>
        <p:nvSpPr>
          <p:cNvPr id="20" name="arch item 1-2"/>
          <p:cNvSpPr/>
          <p:nvPr/>
        </p:nvSpPr>
        <p:spPr>
          <a:xfrm>
            <a:off x="2578608" y="3072384"/>
            <a:ext cx="1920240" cy="512064"/>
          </a:xfrm>
          <a:prstGeom prst="roundRect">
            <a:avLst>
              <a:gd name="adj" fmla="val 10714"/>
            </a:avLst>
          </a:prstGeom>
          <a:solidFill>
            <a:schemeClr val="bg2"/>
          </a:solidFill>
          <a:ln w="9525">
            <a:solidFill>
              <a:schemeClr val="accent6"/>
            </a:solidFill>
            <a:prstDash val="solid"/>
          </a:ln>
        </p:spPr>
      </p:sp>
      <p:sp>
        <p:nvSpPr>
          <p:cNvPr id="21" name="arch item text 1-2"/>
          <p:cNvSpPr txBox="1"/>
          <p:nvPr/>
        </p:nvSpPr>
        <p:spPr>
          <a:xfrm>
            <a:off x="2670048" y="3072384"/>
            <a:ext cx="1737360" cy="512064"/>
          </a:xfrm>
          <a:prstGeom prst="rect">
            <a:avLst/>
          </a:prstGeom>
          <a:noFill/>
          <a:ln/>
        </p:spPr>
        <p:txBody>
          <a:bodyPr wrap="square" lIns="0" tIns="0" rIns="0" bIns="0" rtlCol="0" anchor="ctr"/>
          <a:lstStyle/>
          <a:p>
            <a:pPr algn="ctr" indent="0" marL="0">
              <a:buNone/>
            </a:pPr>
            <a:r>
              <a:rPr lang="en-US" sz="1200" dirty="0">
                <a:solidFill>
                  <a:schemeClr val="tx2"/>
                </a:solidFill>
              </a:rPr>
              <a:t>Shortcut: downtime</a:t>
            </a:r>
            <a:endParaRPr lang="en-US" sz="1200" dirty="0"/>
          </a:p>
        </p:txBody>
      </p:sp>
      <p:sp>
        <p:nvSpPr>
          <p:cNvPr id="22" name="arch item 1-3"/>
          <p:cNvSpPr/>
          <p:nvPr/>
        </p:nvSpPr>
        <p:spPr>
          <a:xfrm>
            <a:off x="2578608" y="3694176"/>
            <a:ext cx="1920240" cy="512064"/>
          </a:xfrm>
          <a:prstGeom prst="roundRect">
            <a:avLst>
              <a:gd name="adj" fmla="val 10714"/>
            </a:avLst>
          </a:prstGeom>
          <a:solidFill>
            <a:schemeClr val="bg2"/>
          </a:solidFill>
          <a:ln w="9525">
            <a:solidFill>
              <a:schemeClr val="accent6"/>
            </a:solidFill>
            <a:prstDash val="solid"/>
          </a:ln>
        </p:spPr>
      </p:sp>
      <p:sp>
        <p:nvSpPr>
          <p:cNvPr id="23" name="arch item text 1-3"/>
          <p:cNvSpPr txBox="1"/>
          <p:nvPr/>
        </p:nvSpPr>
        <p:spPr>
          <a:xfrm>
            <a:off x="2670048" y="3694176"/>
            <a:ext cx="1737360" cy="512064"/>
          </a:xfrm>
          <a:prstGeom prst="rect">
            <a:avLst/>
          </a:prstGeom>
          <a:noFill/>
          <a:ln/>
        </p:spPr>
        <p:txBody>
          <a:bodyPr wrap="square" lIns="0" tIns="0" rIns="0" bIns="0" rtlCol="0" anchor="ctr"/>
          <a:lstStyle/>
          <a:p>
            <a:pPr algn="ctr" indent="0" marL="0">
              <a:buNone/>
            </a:pPr>
            <a:r>
              <a:rPr lang="en-US" sz="1200" dirty="0">
                <a:solidFill>
                  <a:schemeClr val="tx2"/>
                </a:solidFill>
              </a:rPr>
              <a:t>SQL endpoint</a:t>
            </a:r>
            <a:endParaRPr lang="en-US" sz="1200" dirty="0"/>
          </a:p>
        </p:txBody>
      </p:sp>
      <p:sp>
        <p:nvSpPr>
          <p:cNvPr id="24" name="arch arrow 1"/>
          <p:cNvSpPr/>
          <p:nvPr/>
        </p:nvSpPr>
        <p:spPr>
          <a:xfrm>
            <a:off x="4517136" y="1435608"/>
            <a:ext cx="164592" cy="0"/>
          </a:xfrm>
          <a:prstGeom prst="line">
            <a:avLst/>
          </a:prstGeom>
          <a:noFill/>
          <a:ln w="25400">
            <a:solidFill>
              <a:schemeClr val="accent3"/>
            </a:solidFill>
            <a:prstDash val="solid"/>
            <a:tailEnd type="triangle"/>
          </a:ln>
        </p:spPr>
      </p:sp>
      <p:sp>
        <p:nvSpPr>
          <p:cNvPr id="25" name="arch head 2"/>
          <p:cNvSpPr/>
          <p:nvPr/>
        </p:nvSpPr>
        <p:spPr>
          <a:xfrm>
            <a:off x="4700016" y="1188720"/>
            <a:ext cx="1920240" cy="502920"/>
          </a:xfrm>
          <a:prstGeom prst="roundRect">
            <a:avLst>
              <a:gd name="adj" fmla="val 14545"/>
            </a:avLst>
          </a:prstGeom>
          <a:solidFill>
            <a:schemeClr val="tx2"/>
          </a:solidFill>
          <a:ln w="12700">
            <a:solidFill>
              <a:schemeClr val="tx2"/>
            </a:solidFill>
            <a:prstDash val="solid"/>
          </a:ln>
        </p:spPr>
      </p:sp>
      <p:sp>
        <p:nvSpPr>
          <p:cNvPr id="26" name="arch head text 2"/>
          <p:cNvSpPr txBox="1"/>
          <p:nvPr/>
        </p:nvSpPr>
        <p:spPr>
          <a:xfrm>
            <a:off x="4700016" y="1188720"/>
            <a:ext cx="1920240" cy="502920"/>
          </a:xfrm>
          <a:prstGeom prst="rect">
            <a:avLst/>
          </a:prstGeom>
          <a:noFill/>
          <a:ln/>
        </p:spPr>
        <p:txBody>
          <a:bodyPr wrap="square" lIns="0" tIns="0" rIns="0" bIns="0" rtlCol="0" anchor="ctr"/>
          <a:lstStyle/>
          <a:p>
            <a:pPr algn="ctr" indent="0" marL="0">
              <a:buNone/>
            </a:pPr>
            <a:r>
              <a:rPr lang="en-US" sz="1400" b="1" dirty="0">
                <a:solidFill>
                  <a:schemeClr val="bg1"/>
                </a:solidFill>
              </a:rPr>
              <a:t>Business layer</a:t>
            </a:r>
            <a:endParaRPr lang="en-US" sz="1400" dirty="0"/>
          </a:p>
        </p:txBody>
      </p:sp>
      <p:sp>
        <p:nvSpPr>
          <p:cNvPr id="27" name="arch item 2-0"/>
          <p:cNvSpPr/>
          <p:nvPr/>
        </p:nvSpPr>
        <p:spPr>
          <a:xfrm>
            <a:off x="4700016" y="1828800"/>
            <a:ext cx="1920240" cy="512064"/>
          </a:xfrm>
          <a:prstGeom prst="roundRect">
            <a:avLst>
              <a:gd name="adj" fmla="val 10714"/>
            </a:avLst>
          </a:prstGeom>
          <a:solidFill>
            <a:schemeClr val="bg2"/>
          </a:solidFill>
          <a:ln w="9525">
            <a:solidFill>
              <a:schemeClr val="accent6"/>
            </a:solidFill>
            <a:prstDash val="solid"/>
          </a:ln>
        </p:spPr>
      </p:sp>
      <p:sp>
        <p:nvSpPr>
          <p:cNvPr id="28" name="arch item text 2-0"/>
          <p:cNvSpPr txBox="1"/>
          <p:nvPr/>
        </p:nvSpPr>
        <p:spPr>
          <a:xfrm>
            <a:off x="4791456" y="1828800"/>
            <a:ext cx="1737360" cy="512064"/>
          </a:xfrm>
          <a:prstGeom prst="rect">
            <a:avLst/>
          </a:prstGeom>
          <a:noFill/>
          <a:ln/>
        </p:spPr>
        <p:txBody>
          <a:bodyPr wrap="square" lIns="0" tIns="0" rIns="0" bIns="0" rtlCol="0" anchor="ctr"/>
          <a:lstStyle/>
          <a:p>
            <a:pPr algn="ctr" indent="0" marL="0">
              <a:buNone/>
            </a:pPr>
            <a:r>
              <a:rPr lang="en-US" sz="1200" dirty="0">
                <a:solidFill>
                  <a:schemeClr val="tx2"/>
                </a:solidFill>
              </a:rPr>
              <a:t>Semantic model</a:t>
            </a:r>
            <a:endParaRPr lang="en-US" sz="1200" dirty="0"/>
          </a:p>
        </p:txBody>
      </p:sp>
      <p:sp>
        <p:nvSpPr>
          <p:cNvPr id="29" name="arch item 2-1"/>
          <p:cNvSpPr/>
          <p:nvPr/>
        </p:nvSpPr>
        <p:spPr>
          <a:xfrm>
            <a:off x="4700016" y="2450592"/>
            <a:ext cx="1920240" cy="512064"/>
          </a:xfrm>
          <a:prstGeom prst="roundRect">
            <a:avLst>
              <a:gd name="adj" fmla="val 10714"/>
            </a:avLst>
          </a:prstGeom>
          <a:solidFill>
            <a:schemeClr val="bg2"/>
          </a:solidFill>
          <a:ln w="9525">
            <a:solidFill>
              <a:schemeClr val="accent6"/>
            </a:solidFill>
            <a:prstDash val="solid"/>
          </a:ln>
        </p:spPr>
      </p:sp>
      <p:sp>
        <p:nvSpPr>
          <p:cNvPr id="30" name="arch item text 2-1"/>
          <p:cNvSpPr txBox="1"/>
          <p:nvPr/>
        </p:nvSpPr>
        <p:spPr>
          <a:xfrm>
            <a:off x="4791456" y="2450592"/>
            <a:ext cx="1737360" cy="512064"/>
          </a:xfrm>
          <a:prstGeom prst="rect">
            <a:avLst/>
          </a:prstGeom>
          <a:noFill/>
          <a:ln/>
        </p:spPr>
        <p:txBody>
          <a:bodyPr wrap="square" lIns="0" tIns="0" rIns="0" bIns="0" rtlCol="0" anchor="ctr"/>
          <a:lstStyle/>
          <a:p>
            <a:pPr algn="ctr" indent="0" marL="0">
              <a:buNone/>
            </a:pPr>
            <a:r>
              <a:rPr lang="en-US" sz="1200" dirty="0">
                <a:solidFill>
                  <a:schemeClr val="tx2"/>
                </a:solidFill>
              </a:rPr>
              <a:t>5 measures</a:t>
            </a:r>
            <a:endParaRPr lang="en-US" sz="1200" dirty="0"/>
          </a:p>
        </p:txBody>
      </p:sp>
      <p:sp>
        <p:nvSpPr>
          <p:cNvPr id="31" name="arch item 2-2"/>
          <p:cNvSpPr/>
          <p:nvPr/>
        </p:nvSpPr>
        <p:spPr>
          <a:xfrm>
            <a:off x="4700016" y="3072384"/>
            <a:ext cx="1920240" cy="512064"/>
          </a:xfrm>
          <a:prstGeom prst="roundRect">
            <a:avLst>
              <a:gd name="adj" fmla="val 10714"/>
            </a:avLst>
          </a:prstGeom>
          <a:solidFill>
            <a:schemeClr val="bg2"/>
          </a:solidFill>
          <a:ln w="9525">
            <a:solidFill>
              <a:schemeClr val="accent6"/>
            </a:solidFill>
            <a:prstDash val="solid"/>
          </a:ln>
        </p:spPr>
      </p:sp>
      <p:sp>
        <p:nvSpPr>
          <p:cNvPr id="32" name="arch item text 2-2"/>
          <p:cNvSpPr txBox="1"/>
          <p:nvPr/>
        </p:nvSpPr>
        <p:spPr>
          <a:xfrm>
            <a:off x="4791456" y="3072384"/>
            <a:ext cx="1737360" cy="512064"/>
          </a:xfrm>
          <a:prstGeom prst="rect">
            <a:avLst/>
          </a:prstGeom>
          <a:noFill/>
          <a:ln/>
        </p:spPr>
        <p:txBody>
          <a:bodyPr wrap="square" lIns="0" tIns="0" rIns="0" bIns="0" rtlCol="0" anchor="ctr"/>
          <a:lstStyle/>
          <a:p>
            <a:pPr algn="ctr" indent="0" marL="0">
              <a:buNone/>
            </a:pPr>
            <a:r>
              <a:rPr lang="en-US" sz="1200" dirty="0">
                <a:solidFill>
                  <a:schemeClr val="tx2"/>
                </a:solidFill>
              </a:rPr>
              <a:t>Ontology (IQ)</a:t>
            </a:r>
            <a:endParaRPr lang="en-US" sz="1200" dirty="0"/>
          </a:p>
        </p:txBody>
      </p:sp>
      <p:sp>
        <p:nvSpPr>
          <p:cNvPr id="33" name="arch item 2-3"/>
          <p:cNvSpPr/>
          <p:nvPr/>
        </p:nvSpPr>
        <p:spPr>
          <a:xfrm>
            <a:off x="4700016" y="3694176"/>
            <a:ext cx="1920240" cy="512064"/>
          </a:xfrm>
          <a:prstGeom prst="roundRect">
            <a:avLst>
              <a:gd name="adj" fmla="val 10714"/>
            </a:avLst>
          </a:prstGeom>
          <a:solidFill>
            <a:schemeClr val="bg2"/>
          </a:solidFill>
          <a:ln w="9525">
            <a:solidFill>
              <a:schemeClr val="accent6"/>
            </a:solidFill>
            <a:prstDash val="solid"/>
          </a:ln>
        </p:spPr>
      </p:sp>
      <p:sp>
        <p:nvSpPr>
          <p:cNvPr id="34" name="arch item text 2-3"/>
          <p:cNvSpPr txBox="1"/>
          <p:nvPr/>
        </p:nvSpPr>
        <p:spPr>
          <a:xfrm>
            <a:off x="4791456" y="3694176"/>
            <a:ext cx="1737360" cy="512064"/>
          </a:xfrm>
          <a:prstGeom prst="rect">
            <a:avLst/>
          </a:prstGeom>
          <a:noFill/>
          <a:ln/>
        </p:spPr>
        <p:txBody>
          <a:bodyPr wrap="square" lIns="0" tIns="0" rIns="0" bIns="0" rtlCol="0" anchor="ctr"/>
          <a:lstStyle/>
          <a:p>
            <a:pPr algn="ctr" indent="0" marL="0">
              <a:buNone/>
            </a:pPr>
            <a:r>
              <a:rPr lang="en-US" sz="1200" dirty="0">
                <a:solidFill>
                  <a:schemeClr val="tx2"/>
                </a:solidFill>
              </a:rPr>
              <a:t>4 relationships</a:t>
            </a:r>
            <a:endParaRPr lang="en-US" sz="1200" dirty="0"/>
          </a:p>
        </p:txBody>
      </p:sp>
      <p:sp>
        <p:nvSpPr>
          <p:cNvPr id="35" name="arch arrow 2"/>
          <p:cNvSpPr/>
          <p:nvPr/>
        </p:nvSpPr>
        <p:spPr>
          <a:xfrm>
            <a:off x="6638544" y="1435608"/>
            <a:ext cx="164592" cy="0"/>
          </a:xfrm>
          <a:prstGeom prst="line">
            <a:avLst/>
          </a:prstGeom>
          <a:noFill/>
          <a:ln w="25400">
            <a:solidFill>
              <a:schemeClr val="accent3"/>
            </a:solidFill>
            <a:prstDash val="solid"/>
            <a:tailEnd type="triangle"/>
          </a:ln>
        </p:spPr>
      </p:sp>
      <p:sp>
        <p:nvSpPr>
          <p:cNvPr id="36" name="arch head 3"/>
          <p:cNvSpPr/>
          <p:nvPr/>
        </p:nvSpPr>
        <p:spPr>
          <a:xfrm>
            <a:off x="6821424" y="1188720"/>
            <a:ext cx="1920240" cy="502920"/>
          </a:xfrm>
          <a:prstGeom prst="roundRect">
            <a:avLst>
              <a:gd name="adj" fmla="val 14545"/>
            </a:avLst>
          </a:prstGeom>
          <a:solidFill>
            <a:schemeClr val="accent3"/>
          </a:solidFill>
          <a:ln w="12700">
            <a:solidFill>
              <a:schemeClr val="accent3"/>
            </a:solidFill>
            <a:prstDash val="solid"/>
          </a:ln>
        </p:spPr>
      </p:sp>
      <p:sp>
        <p:nvSpPr>
          <p:cNvPr id="37" name="arch head text 3"/>
          <p:cNvSpPr txBox="1"/>
          <p:nvPr/>
        </p:nvSpPr>
        <p:spPr>
          <a:xfrm>
            <a:off x="6821424" y="1188720"/>
            <a:ext cx="1920240" cy="502920"/>
          </a:xfrm>
          <a:prstGeom prst="rect">
            <a:avLst/>
          </a:prstGeom>
          <a:noFill/>
          <a:ln/>
        </p:spPr>
        <p:txBody>
          <a:bodyPr wrap="square" lIns="0" tIns="0" rIns="0" bIns="0" rtlCol="0" anchor="ctr"/>
          <a:lstStyle/>
          <a:p>
            <a:pPr algn="ctr" indent="0" marL="0">
              <a:buNone/>
            </a:pPr>
            <a:r>
              <a:rPr lang="en-US" sz="1400" b="1" dirty="0">
                <a:solidFill>
                  <a:schemeClr val="tx2"/>
                </a:solidFill>
              </a:rPr>
              <a:t>Consumption</a:t>
            </a:r>
            <a:endParaRPr lang="en-US" sz="1400" dirty="0"/>
          </a:p>
        </p:txBody>
      </p:sp>
      <p:sp>
        <p:nvSpPr>
          <p:cNvPr id="38" name="arch item 3-0"/>
          <p:cNvSpPr/>
          <p:nvPr/>
        </p:nvSpPr>
        <p:spPr>
          <a:xfrm>
            <a:off x="6821424" y="1828800"/>
            <a:ext cx="1920240" cy="512064"/>
          </a:xfrm>
          <a:prstGeom prst="roundRect">
            <a:avLst>
              <a:gd name="adj" fmla="val 10714"/>
            </a:avLst>
          </a:prstGeom>
          <a:solidFill>
            <a:schemeClr val="bg2"/>
          </a:solidFill>
          <a:ln w="9525">
            <a:solidFill>
              <a:schemeClr val="accent6"/>
            </a:solidFill>
            <a:prstDash val="solid"/>
          </a:ln>
        </p:spPr>
      </p:sp>
      <p:sp>
        <p:nvSpPr>
          <p:cNvPr id="39" name="arch item text 3-0"/>
          <p:cNvSpPr txBox="1"/>
          <p:nvPr/>
        </p:nvSpPr>
        <p:spPr>
          <a:xfrm>
            <a:off x="6912864" y="1828800"/>
            <a:ext cx="1737360" cy="512064"/>
          </a:xfrm>
          <a:prstGeom prst="rect">
            <a:avLst/>
          </a:prstGeom>
          <a:noFill/>
          <a:ln/>
        </p:spPr>
        <p:txBody>
          <a:bodyPr wrap="square" lIns="0" tIns="0" rIns="0" bIns="0" rtlCol="0" anchor="ctr"/>
          <a:lstStyle/>
          <a:p>
            <a:pPr algn="ctr" indent="0" marL="0">
              <a:buNone/>
            </a:pPr>
            <a:r>
              <a:rPr lang="en-US" sz="1200" dirty="0">
                <a:solidFill>
                  <a:schemeClr val="tx2"/>
                </a:solidFill>
              </a:rPr>
              <a:t>Copilot notebook</a:t>
            </a:r>
            <a:endParaRPr lang="en-US" sz="1200" dirty="0"/>
          </a:p>
        </p:txBody>
      </p:sp>
      <p:sp>
        <p:nvSpPr>
          <p:cNvPr id="40" name="arch item 3-1"/>
          <p:cNvSpPr/>
          <p:nvPr/>
        </p:nvSpPr>
        <p:spPr>
          <a:xfrm>
            <a:off x="6821424" y="2450592"/>
            <a:ext cx="1920240" cy="512064"/>
          </a:xfrm>
          <a:prstGeom prst="roundRect">
            <a:avLst>
              <a:gd name="adj" fmla="val 10714"/>
            </a:avLst>
          </a:prstGeom>
          <a:solidFill>
            <a:schemeClr val="bg2"/>
          </a:solidFill>
          <a:ln w="9525">
            <a:solidFill>
              <a:schemeClr val="accent6"/>
            </a:solidFill>
            <a:prstDash val="solid"/>
          </a:ln>
        </p:spPr>
      </p:sp>
      <p:sp>
        <p:nvSpPr>
          <p:cNvPr id="41" name="arch item text 3-1"/>
          <p:cNvSpPr txBox="1"/>
          <p:nvPr/>
        </p:nvSpPr>
        <p:spPr>
          <a:xfrm>
            <a:off x="6912864" y="2450592"/>
            <a:ext cx="1737360" cy="512064"/>
          </a:xfrm>
          <a:prstGeom prst="rect">
            <a:avLst/>
          </a:prstGeom>
          <a:noFill/>
          <a:ln/>
        </p:spPr>
        <p:txBody>
          <a:bodyPr wrap="square" lIns="0" tIns="0" rIns="0" bIns="0" rtlCol="0" anchor="ctr"/>
          <a:lstStyle/>
          <a:p>
            <a:pPr algn="ctr" indent="0" marL="0">
              <a:buNone/>
            </a:pPr>
            <a:r>
              <a:rPr lang="en-US" sz="1200" dirty="0">
                <a:solidFill>
                  <a:schemeClr val="tx2"/>
                </a:solidFill>
              </a:rPr>
              <a:t>Power BI report</a:t>
            </a:r>
            <a:endParaRPr lang="en-US" sz="1200" dirty="0"/>
          </a:p>
        </p:txBody>
      </p:sp>
      <p:sp>
        <p:nvSpPr>
          <p:cNvPr id="42" name="arch item 3-2"/>
          <p:cNvSpPr/>
          <p:nvPr/>
        </p:nvSpPr>
        <p:spPr>
          <a:xfrm>
            <a:off x="6821424" y="3072384"/>
            <a:ext cx="1920240" cy="512064"/>
          </a:xfrm>
          <a:prstGeom prst="roundRect">
            <a:avLst>
              <a:gd name="adj" fmla="val 10714"/>
            </a:avLst>
          </a:prstGeom>
          <a:solidFill>
            <a:schemeClr val="bg2"/>
          </a:solidFill>
          <a:ln w="9525">
            <a:solidFill>
              <a:schemeClr val="accent6"/>
            </a:solidFill>
            <a:prstDash val="solid"/>
          </a:ln>
        </p:spPr>
      </p:sp>
      <p:sp>
        <p:nvSpPr>
          <p:cNvPr id="43" name="arch item text 3-2"/>
          <p:cNvSpPr txBox="1"/>
          <p:nvPr/>
        </p:nvSpPr>
        <p:spPr>
          <a:xfrm>
            <a:off x="6912864" y="3072384"/>
            <a:ext cx="1737360" cy="512064"/>
          </a:xfrm>
          <a:prstGeom prst="rect">
            <a:avLst/>
          </a:prstGeom>
          <a:noFill/>
          <a:ln/>
        </p:spPr>
        <p:txBody>
          <a:bodyPr wrap="square" lIns="0" tIns="0" rIns="0" bIns="0" rtlCol="0" anchor="ctr"/>
          <a:lstStyle/>
          <a:p>
            <a:pPr algn="ctr" indent="0" marL="0">
              <a:buNone/>
            </a:pPr>
            <a:r>
              <a:rPr lang="en-US" sz="1200" dirty="0">
                <a:solidFill>
                  <a:schemeClr val="tx2"/>
                </a:solidFill>
              </a:rPr>
              <a:t>Data agent</a:t>
            </a:r>
            <a:endParaRPr lang="en-US" sz="1200" dirty="0"/>
          </a:p>
        </p:txBody>
      </p:sp>
      <p:sp>
        <p:nvSpPr>
          <p:cNvPr id="44" name="arch item 3-3"/>
          <p:cNvSpPr/>
          <p:nvPr/>
        </p:nvSpPr>
        <p:spPr>
          <a:xfrm>
            <a:off x="6821424" y="3694176"/>
            <a:ext cx="1920240" cy="512064"/>
          </a:xfrm>
          <a:prstGeom prst="roundRect">
            <a:avLst>
              <a:gd name="adj" fmla="val 10714"/>
            </a:avLst>
          </a:prstGeom>
          <a:solidFill>
            <a:schemeClr val="bg2"/>
          </a:solidFill>
          <a:ln w="9525">
            <a:solidFill>
              <a:schemeClr val="accent6"/>
            </a:solidFill>
            <a:prstDash val="solid"/>
          </a:ln>
        </p:spPr>
      </p:sp>
      <p:sp>
        <p:nvSpPr>
          <p:cNvPr id="45" name="arch item text 3-3"/>
          <p:cNvSpPr txBox="1"/>
          <p:nvPr/>
        </p:nvSpPr>
        <p:spPr>
          <a:xfrm>
            <a:off x="6912864" y="3694176"/>
            <a:ext cx="1737360" cy="512064"/>
          </a:xfrm>
          <a:prstGeom prst="rect">
            <a:avLst/>
          </a:prstGeom>
          <a:noFill/>
          <a:ln/>
        </p:spPr>
        <p:txBody>
          <a:bodyPr wrap="square" lIns="0" tIns="0" rIns="0" bIns="0" rtlCol="0" anchor="ctr"/>
          <a:lstStyle/>
          <a:p>
            <a:pPr algn="ctr" indent="0" marL="0">
              <a:buNone/>
            </a:pPr>
            <a:r>
              <a:rPr lang="en-US" sz="1200" dirty="0">
                <a:solidFill>
                  <a:schemeClr val="tx2"/>
                </a:solidFill>
              </a:rPr>
              <a:t>Next: Teams / Copilot Studio</a:t>
            </a:r>
            <a:endParaRPr lang="en-US" sz="1200" dirty="0"/>
          </a:p>
        </p:txBody>
      </p:sp>
      <p:sp>
        <p:nvSpPr>
          <p:cNvPr id="46" name="disclaimer"/>
          <p:cNvSpPr txBox="1"/>
          <p:nvPr/>
        </p:nvSpPr>
        <p:spPr>
          <a:xfrm>
            <a:off x="457200" y="4343400"/>
            <a:ext cx="8229600" cy="274320"/>
          </a:xfrm>
          <a:prstGeom prst="rect">
            <a:avLst/>
          </a:prstGeom>
          <a:noFill/>
          <a:ln/>
        </p:spPr>
        <p:txBody>
          <a:bodyPr wrap="square" lIns="0" tIns="0" rIns="0" bIns="0" rtlCol="0" anchor="t"/>
          <a:lstStyle/>
          <a:p>
            <a:pPr indent="0" marL="0">
              <a:buNone/>
            </a:pPr>
            <a:r>
              <a:rPr lang="en-US" sz="1000" i="1" dirty="0">
                <a:solidFill>
                  <a:schemeClr val="accent5"/>
                </a:solidFill>
              </a:rPr>
              <a:t>Lab data is fictional sample data shaped like a refinery. It is not SATORP operational data.</a:t>
            </a:r>
            <a:endParaRPr lang="en-US" sz="10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Three simple labs</a:t>
            </a:r>
            <a:endParaRPr lang="en-US" sz="2800" dirty="0"/>
          </a:p>
        </p:txBody>
      </p:sp>
      <p:sp>
        <p:nvSpPr>
          <p:cNvPr id="3" name="lab card 0"/>
          <p:cNvSpPr/>
          <p:nvPr/>
        </p:nvSpPr>
        <p:spPr>
          <a:xfrm>
            <a:off x="457200" y="1188720"/>
            <a:ext cx="2606040" cy="3154680"/>
          </a:xfrm>
          <a:prstGeom prst="roundRect">
            <a:avLst>
              <a:gd name="adj" fmla="val 2807"/>
            </a:avLst>
          </a:prstGeom>
          <a:solidFill>
            <a:schemeClr val="bg2"/>
          </a:solidFill>
          <a:ln w="9525">
            <a:solidFill>
              <a:schemeClr val="accent6"/>
            </a:solidFill>
            <a:prstDash val="solid"/>
          </a:ln>
        </p:spPr>
      </p:sp>
      <p:sp>
        <p:nvSpPr>
          <p:cNvPr id="4" name="lab title 0"/>
          <p:cNvSpPr txBox="1"/>
          <p:nvPr/>
        </p:nvSpPr>
        <p:spPr>
          <a:xfrm>
            <a:off x="640080" y="1325880"/>
            <a:ext cx="2286000" cy="365760"/>
          </a:xfrm>
          <a:prstGeom prst="rect">
            <a:avLst/>
          </a:prstGeom>
          <a:noFill/>
          <a:ln/>
        </p:spPr>
        <p:txBody>
          <a:bodyPr wrap="square" lIns="0" tIns="0" rIns="0" bIns="0" rtlCol="0" anchor="t"/>
          <a:lstStyle/>
          <a:p>
            <a:pPr indent="0" marL="0">
              <a:buNone/>
            </a:pPr>
            <a:r>
              <a:rPr lang="en-US" sz="1700" b="1" dirty="0">
                <a:solidFill>
                  <a:schemeClr val="accent1"/>
                </a:solidFill>
              </a:rPr>
              <a:t>Lab 1 · OneLake</a:t>
            </a:r>
            <a:endParaRPr lang="en-US" sz="1700" dirty="0"/>
          </a:p>
        </p:txBody>
      </p:sp>
      <p:sp>
        <p:nvSpPr>
          <p:cNvPr id="5" name="lab list 0"/>
          <p:cNvSpPr txBox="1"/>
          <p:nvPr/>
        </p:nvSpPr>
        <p:spPr>
          <a:xfrm>
            <a:off x="640080" y="1783080"/>
            <a:ext cx="2286000" cy="18288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Create 2 lakehouses</a:t>
            </a:r>
            <a:endParaRPr lang="en-US" sz="1200" dirty="0"/>
          </a:p>
          <a:p>
            <a:pPr marL="342900" indent="-342900">
              <a:spcAft>
                <a:spcPts val="400"/>
              </a:spcAft>
              <a:buSzPct val="100000"/>
              <a:buChar char="•"/>
            </a:pPr>
            <a:r>
              <a:rPr lang="en-US" sz="1200" dirty="0">
                <a:solidFill>
                  <a:schemeClr val="tx1"/>
                </a:solidFill>
              </a:rPr>
              <a:t>Load 5 CSVs to tables</a:t>
            </a:r>
            <a:endParaRPr lang="en-US" sz="1200" dirty="0"/>
          </a:p>
          <a:p>
            <a:pPr marL="342900" indent="-342900">
              <a:spcAft>
                <a:spcPts val="400"/>
              </a:spcAft>
              <a:buSzPct val="100000"/>
              <a:buChar char="•"/>
            </a:pPr>
            <a:r>
              <a:rPr lang="en-US" sz="1200" dirty="0">
                <a:solidFill>
                  <a:schemeClr val="tx1"/>
                </a:solidFill>
              </a:rPr>
              <a:t>Create a OneLake shortcut</a:t>
            </a:r>
            <a:endParaRPr lang="en-US" sz="1200" dirty="0"/>
          </a:p>
          <a:p>
            <a:pPr marL="342900" indent="-342900">
              <a:spcAft>
                <a:spcPts val="400"/>
              </a:spcAft>
              <a:buSzPct val="100000"/>
              <a:buChar char="•"/>
            </a:pPr>
            <a:r>
              <a:rPr lang="en-US" sz="1200" dirty="0">
                <a:solidFill>
                  <a:schemeClr val="tx1"/>
                </a:solidFill>
              </a:rPr>
              <a:t>Query with SQL</a:t>
            </a:r>
            <a:endParaRPr lang="en-US" sz="1200" dirty="0"/>
          </a:p>
          <a:p>
            <a:pPr marL="342900" indent="-342900">
              <a:spcAft>
                <a:spcPts val="400"/>
              </a:spcAft>
              <a:buSzPct val="100000"/>
              <a:buChar char="•"/>
            </a:pPr>
            <a:r>
              <a:rPr lang="en-US" sz="1200" dirty="0">
                <a:solidFill>
                  <a:schemeClr val="tx1"/>
                </a:solidFill>
              </a:rPr>
              <a:t>Find data in the catalog</a:t>
            </a:r>
            <a:endParaRPr lang="en-US" sz="1200" dirty="0"/>
          </a:p>
        </p:txBody>
      </p:sp>
      <p:sp>
        <p:nvSpPr>
          <p:cNvPr id="6" name="lab result 0"/>
          <p:cNvSpPr txBox="1"/>
          <p:nvPr/>
        </p:nvSpPr>
        <p:spPr>
          <a:xfrm>
            <a:off x="640080" y="3840480"/>
            <a:ext cx="2286000" cy="365760"/>
          </a:xfrm>
          <a:prstGeom prst="rect">
            <a:avLst/>
          </a:prstGeom>
          <a:noFill/>
          <a:ln/>
        </p:spPr>
        <p:txBody>
          <a:bodyPr wrap="square" lIns="0" tIns="0" rIns="0" bIns="0" rtlCol="0" anchor="t"/>
          <a:lstStyle/>
          <a:p>
            <a:pPr indent="0" marL="0">
              <a:buNone/>
            </a:pPr>
            <a:r>
              <a:rPr lang="en-US" sz="1100" b="1" dirty="0">
                <a:solidFill>
                  <a:schemeClr val="tx2"/>
                </a:solidFill>
              </a:rPr>
              <a:t>✓ FCC lowest attainment ~86.7%</a:t>
            </a:r>
            <a:endParaRPr lang="en-US" sz="1100" dirty="0"/>
          </a:p>
        </p:txBody>
      </p:sp>
      <p:sp>
        <p:nvSpPr>
          <p:cNvPr id="7" name="lab card 1"/>
          <p:cNvSpPr/>
          <p:nvPr/>
        </p:nvSpPr>
        <p:spPr>
          <a:xfrm>
            <a:off x="3246120" y="1188720"/>
            <a:ext cx="2606040" cy="3154680"/>
          </a:xfrm>
          <a:prstGeom prst="roundRect">
            <a:avLst>
              <a:gd name="adj" fmla="val 2807"/>
            </a:avLst>
          </a:prstGeom>
          <a:solidFill>
            <a:schemeClr val="bg2"/>
          </a:solidFill>
          <a:ln w="9525">
            <a:solidFill>
              <a:schemeClr val="accent6"/>
            </a:solidFill>
            <a:prstDash val="solid"/>
          </a:ln>
        </p:spPr>
      </p:sp>
      <p:sp>
        <p:nvSpPr>
          <p:cNvPr id="8" name="lab title 1"/>
          <p:cNvSpPr txBox="1"/>
          <p:nvPr/>
        </p:nvSpPr>
        <p:spPr>
          <a:xfrm>
            <a:off x="3429000" y="1325880"/>
            <a:ext cx="2286000" cy="365760"/>
          </a:xfrm>
          <a:prstGeom prst="rect">
            <a:avLst/>
          </a:prstGeom>
          <a:noFill/>
          <a:ln/>
        </p:spPr>
        <p:txBody>
          <a:bodyPr wrap="square" lIns="0" tIns="0" rIns="0" bIns="0" rtlCol="0" anchor="t"/>
          <a:lstStyle/>
          <a:p>
            <a:pPr indent="0" marL="0">
              <a:buNone/>
            </a:pPr>
            <a:r>
              <a:rPr lang="en-US" sz="1700" b="1" dirty="0">
                <a:solidFill>
                  <a:schemeClr val="accent1"/>
                </a:solidFill>
              </a:rPr>
              <a:t>Lab 2 · Copilot</a:t>
            </a:r>
            <a:endParaRPr lang="en-US" sz="1700" dirty="0"/>
          </a:p>
        </p:txBody>
      </p:sp>
      <p:sp>
        <p:nvSpPr>
          <p:cNvPr id="9" name="lab list 1"/>
          <p:cNvSpPr txBox="1"/>
          <p:nvPr/>
        </p:nvSpPr>
        <p:spPr>
          <a:xfrm>
            <a:off x="3429000" y="1783080"/>
            <a:ext cx="2286000" cy="18288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5 Copilot prompts in a notebook</a:t>
            </a:r>
            <a:endParaRPr lang="en-US" sz="1200" dirty="0"/>
          </a:p>
          <a:p>
            <a:pPr marL="342900" indent="-342900">
              <a:spcAft>
                <a:spcPts val="400"/>
              </a:spcAft>
              <a:buSzPct val="100000"/>
              <a:buChar char="•"/>
            </a:pPr>
            <a:r>
              <a:rPr lang="en-US" sz="1200" dirty="0">
                <a:solidFill>
                  <a:schemeClr val="tx1"/>
                </a:solidFill>
              </a:rPr>
              <a:t>Explain &amp; fix code</a:t>
            </a:r>
            <a:endParaRPr lang="en-US" sz="1200" dirty="0"/>
          </a:p>
          <a:p>
            <a:pPr marL="342900" indent="-342900">
              <a:spcAft>
                <a:spcPts val="400"/>
              </a:spcAft>
              <a:buSzPct val="100000"/>
              <a:buChar char="•"/>
            </a:pPr>
            <a:r>
              <a:rPr lang="en-US" sz="1200" dirty="0">
                <a:solidFill>
                  <a:schemeClr val="tx1"/>
                </a:solidFill>
              </a:rPr>
              <a:t>Semantic model + measures</a:t>
            </a:r>
            <a:endParaRPr lang="en-US" sz="1200" dirty="0"/>
          </a:p>
          <a:p>
            <a:pPr marL="342900" indent="-342900">
              <a:spcAft>
                <a:spcPts val="400"/>
              </a:spcAft>
              <a:buSzPct val="100000"/>
              <a:buChar char="•"/>
            </a:pPr>
            <a:r>
              <a:rPr lang="en-US" sz="1200" dirty="0">
                <a:solidFill>
                  <a:schemeClr val="tx1"/>
                </a:solidFill>
              </a:rPr>
              <a:t>Copilot builds a report page</a:t>
            </a:r>
            <a:endParaRPr lang="en-US" sz="1200" dirty="0"/>
          </a:p>
        </p:txBody>
      </p:sp>
      <p:sp>
        <p:nvSpPr>
          <p:cNvPr id="10" name="lab result 1"/>
          <p:cNvSpPr txBox="1"/>
          <p:nvPr/>
        </p:nvSpPr>
        <p:spPr>
          <a:xfrm>
            <a:off x="3429000" y="3840480"/>
            <a:ext cx="2286000" cy="365760"/>
          </a:xfrm>
          <a:prstGeom prst="rect">
            <a:avLst/>
          </a:prstGeom>
          <a:noFill/>
          <a:ln/>
        </p:spPr>
        <p:txBody>
          <a:bodyPr wrap="square" lIns="0" tIns="0" rIns="0" bIns="0" rtlCol="0" anchor="t"/>
          <a:lstStyle/>
          <a:p>
            <a:pPr indent="0" marL="0">
              <a:buNone/>
            </a:pPr>
            <a:r>
              <a:rPr lang="en-US" sz="1100" b="1" dirty="0">
                <a:solidFill>
                  <a:schemeClr val="tx2"/>
                </a:solidFill>
              </a:rPr>
              <a:t>✓ Dip on 11–13 Sep explained</a:t>
            </a:r>
            <a:endParaRPr lang="en-US" sz="1100" dirty="0"/>
          </a:p>
        </p:txBody>
      </p:sp>
      <p:sp>
        <p:nvSpPr>
          <p:cNvPr id="11" name="lab card 2"/>
          <p:cNvSpPr/>
          <p:nvPr/>
        </p:nvSpPr>
        <p:spPr>
          <a:xfrm>
            <a:off x="6035040" y="1188720"/>
            <a:ext cx="2606040" cy="3154680"/>
          </a:xfrm>
          <a:prstGeom prst="roundRect">
            <a:avLst>
              <a:gd name="adj" fmla="val 2807"/>
            </a:avLst>
          </a:prstGeom>
          <a:solidFill>
            <a:schemeClr val="bg2"/>
          </a:solidFill>
          <a:ln w="9525">
            <a:solidFill>
              <a:schemeClr val="accent6"/>
            </a:solidFill>
            <a:prstDash val="solid"/>
          </a:ln>
        </p:spPr>
      </p:sp>
      <p:sp>
        <p:nvSpPr>
          <p:cNvPr id="12" name="lab title 2"/>
          <p:cNvSpPr txBox="1"/>
          <p:nvPr/>
        </p:nvSpPr>
        <p:spPr>
          <a:xfrm>
            <a:off x="6217920" y="1325880"/>
            <a:ext cx="2286000" cy="365760"/>
          </a:xfrm>
          <a:prstGeom prst="rect">
            <a:avLst/>
          </a:prstGeom>
          <a:noFill/>
          <a:ln/>
        </p:spPr>
        <p:txBody>
          <a:bodyPr wrap="square" lIns="0" tIns="0" rIns="0" bIns="0" rtlCol="0" anchor="t"/>
          <a:lstStyle/>
          <a:p>
            <a:pPr indent="0" marL="0">
              <a:buNone/>
            </a:pPr>
            <a:r>
              <a:rPr lang="en-US" sz="1700" b="1" dirty="0">
                <a:solidFill>
                  <a:schemeClr val="accent1"/>
                </a:solidFill>
              </a:rPr>
              <a:t>Lab 3 · Fabric IQ</a:t>
            </a:r>
            <a:endParaRPr lang="en-US" sz="1700" dirty="0"/>
          </a:p>
        </p:txBody>
      </p:sp>
      <p:sp>
        <p:nvSpPr>
          <p:cNvPr id="13" name="lab list 2"/>
          <p:cNvSpPr txBox="1"/>
          <p:nvPr/>
        </p:nvSpPr>
        <p:spPr>
          <a:xfrm>
            <a:off x="6217920" y="1783080"/>
            <a:ext cx="2286000" cy="18288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Ontology (preview)</a:t>
            </a:r>
            <a:endParaRPr lang="en-US" sz="1200" dirty="0"/>
          </a:p>
          <a:p>
            <a:pPr marL="342900" indent="-342900">
              <a:spcAft>
                <a:spcPts val="400"/>
              </a:spcAft>
              <a:buSzPct val="100000"/>
              <a:buChar char="•"/>
            </a:pPr>
            <a:r>
              <a:rPr lang="en-US" sz="1200" dirty="0">
                <a:solidFill>
                  <a:schemeClr val="tx1"/>
                </a:solidFill>
              </a:rPr>
              <a:t>5 entity types + bindings</a:t>
            </a:r>
            <a:endParaRPr lang="en-US" sz="1200" dirty="0"/>
          </a:p>
          <a:p>
            <a:pPr marL="342900" indent="-342900">
              <a:spcAft>
                <a:spcPts val="400"/>
              </a:spcAft>
              <a:buSzPct val="100000"/>
              <a:buChar char="•"/>
            </a:pPr>
            <a:r>
              <a:rPr lang="en-US" sz="1200" dirty="0">
                <a:solidFill>
                  <a:schemeClr val="tx1"/>
                </a:solidFill>
              </a:rPr>
              <a:t>Relationships + ontology agent</a:t>
            </a:r>
            <a:endParaRPr lang="en-US" sz="1200" dirty="0"/>
          </a:p>
          <a:p>
            <a:pPr marL="342900" indent="-342900">
              <a:spcAft>
                <a:spcPts val="400"/>
              </a:spcAft>
              <a:buSzPct val="100000"/>
              <a:buChar char="•"/>
            </a:pPr>
            <a:r>
              <a:rPr lang="en-US" sz="1200" dirty="0">
                <a:solidFill>
                  <a:schemeClr val="tx1"/>
                </a:solidFill>
              </a:rPr>
              <a:t>Data agent Q&amp;A</a:t>
            </a:r>
            <a:endParaRPr lang="en-US" sz="1200" dirty="0"/>
          </a:p>
        </p:txBody>
      </p:sp>
      <p:sp>
        <p:nvSpPr>
          <p:cNvPr id="14" name="lab result 2"/>
          <p:cNvSpPr txBox="1"/>
          <p:nvPr/>
        </p:nvSpPr>
        <p:spPr>
          <a:xfrm>
            <a:off x="6217920" y="3840480"/>
            <a:ext cx="2286000" cy="365760"/>
          </a:xfrm>
          <a:prstGeom prst="rect">
            <a:avLst/>
          </a:prstGeom>
          <a:noFill/>
          <a:ln/>
        </p:spPr>
        <p:txBody>
          <a:bodyPr wrap="square" lIns="0" tIns="0" rIns="0" bIns="0" rtlCol="0" anchor="t"/>
          <a:lstStyle/>
          <a:p>
            <a:pPr indent="0" marL="0">
              <a:buNone/>
            </a:pPr>
            <a:r>
              <a:rPr lang="en-US" sz="1100" b="1" dirty="0">
                <a:solidFill>
                  <a:schemeClr val="tx2"/>
                </a:solidFill>
              </a:rPr>
              <a:t>✓ Top cause: fouling ~184.5 h</a:t>
            </a:r>
            <a:endParaRPr lang="en-US" sz="11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Before you start: prerequisites and governance</a:t>
            </a:r>
            <a:endParaRPr lang="en-US" sz="2800" dirty="0"/>
          </a:p>
        </p:txBody>
      </p:sp>
      <p:graphicFrame>
        <p:nvGraphicFramePr>
          <p:cNvPr id="14" name="prereq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828800"/>
                <a:gridCol w="6400800"/>
              </a:tblGrid>
              <a:tr h="475488">
                <a:tc>
                  <a:txBody>
                    <a:bodyPr/>
                    <a:lstStyle/>
                    <a:p>
                      <a:pPr indent="0" marL="0">
                        <a:buNone/>
                      </a:pPr>
                      <a:r>
                        <a:rPr lang="en-US" sz="1200" b="1" dirty="0">
                          <a:solidFill>
                            <a:schemeClr val="bg1"/>
                          </a:solidFill>
                        </a:rPr>
                        <a:t>Area</a:t>
                      </a:r>
                      <a:endParaRPr lang="en-US" sz="1200" dirty="0"/>
                    </a:p>
                  </a:txBody>
                  <a:tcPr marL="91440" marR="91440" marT="45720" marB="45720" anchor="ctr">
                    <a:lnL w="9525" cap="flat" cmpd="sng" algn="ctr">
                      <a:solidFill>
                        <a:srgbClr val="C9DEE1"/>
                      </a:solidFill>
                      <a:prstDash val="solid"/>
                      <a:round/>
                      <a:headEnd type="none" w="med" len="med"/>
                      <a:tailEnd type="none" w="med" len="med"/>
                    </a:lnL>
                    <a:lnR w="9525" cap="flat" cmpd="sng" algn="ctr">
                      <a:solidFill>
                        <a:srgbClr val="C9DEE1"/>
                      </a:solidFill>
                      <a:prstDash val="solid"/>
                      <a:round/>
                      <a:headEnd type="none" w="med" len="med"/>
                      <a:tailEnd type="none" w="med" len="med"/>
                    </a:lnR>
                    <a:lnT w="9525" cap="flat" cmpd="sng" algn="ctr">
                      <a:solidFill>
                        <a:srgbClr val="C9DEE1"/>
                      </a:solidFill>
                      <a:prstDash val="solid"/>
                      <a:round/>
                      <a:headEnd type="none" w="med" len="med"/>
                      <a:tailEnd type="none" w="med" len="med"/>
                    </a:lnT>
                    <a:lnB w="9525" cap="flat" cmpd="sng" algn="ctr">
                      <a:solidFill>
                        <a:srgbClr val="C9DEE1"/>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What's needed</a:t>
                      </a:r>
                      <a:endParaRPr lang="en-US" sz="1200" dirty="0"/>
                    </a:p>
                  </a:txBody>
                  <a:tcPr marL="91440" marR="91440" marT="45720" marB="45720" anchor="ctr">
                    <a:lnL w="9525" cap="flat" cmpd="sng" algn="ctr">
                      <a:solidFill>
                        <a:srgbClr val="C9DEE1"/>
                      </a:solidFill>
                      <a:prstDash val="solid"/>
                      <a:round/>
                      <a:headEnd type="none" w="med" len="med"/>
                      <a:tailEnd type="none" w="med" len="med"/>
                    </a:lnL>
                    <a:lnR w="9525" cap="flat" cmpd="sng" algn="ctr">
                      <a:solidFill>
                        <a:srgbClr val="C9DEE1"/>
                      </a:solidFill>
                      <a:prstDash val="solid"/>
                      <a:round/>
                      <a:headEnd type="none" w="med" len="med"/>
                      <a:tailEnd type="none" w="med" len="med"/>
                    </a:lnR>
                    <a:lnT w="9525" cap="flat" cmpd="sng" algn="ctr">
                      <a:solidFill>
                        <a:srgbClr val="C9DEE1"/>
                      </a:solidFill>
                      <a:prstDash val="solid"/>
                      <a:round/>
                      <a:headEnd type="none" w="med" len="med"/>
                      <a:tailEnd type="none" w="med" len="med"/>
                    </a:lnT>
                    <a:lnB w="9525" cap="flat" cmpd="sng" algn="ctr">
                      <a:solidFill>
                        <a:srgbClr val="C9DEE1"/>
                      </a:solidFill>
                      <a:prstDash val="solid"/>
                      <a:round/>
                      <a:headEnd type="none" w="med" len="med"/>
                      <a:tailEnd type="none" w="med" len="med"/>
                    </a:lnB>
                    <a:solidFill>
                      <a:schemeClr val="accent1"/>
                    </a:solidFill>
                  </a:tcPr>
                </a:tc>
              </a:tr>
              <a:tr h="475488">
                <a:tc>
                  <a:txBody>
                    <a:bodyPr/>
                    <a:lstStyle/>
                    <a:p>
                      <a:pPr indent="0" marL="0">
                        <a:buNone/>
                      </a:pPr>
                      <a:r>
                        <a:rPr lang="en-US" sz="1200" dirty="0">
                          <a:solidFill>
                            <a:schemeClr val="tx1"/>
                          </a:solidFill>
                        </a:rPr>
                        <a:t>Capacity</a:t>
                      </a:r>
                      <a:endParaRPr lang="en-US" sz="1200" dirty="0"/>
                    </a:p>
                  </a:txBody>
                  <a:tcPr marL="91440" marR="91440" marT="45720" marB="45720" anchor="ctr">
                    <a:lnL w="9525" cap="flat" cmpd="sng" algn="ctr">
                      <a:solidFill>
                        <a:srgbClr val="C9DEE1"/>
                      </a:solidFill>
                      <a:prstDash val="solid"/>
                      <a:round/>
                      <a:headEnd type="none" w="med" len="med"/>
                      <a:tailEnd type="none" w="med" len="med"/>
                    </a:lnL>
                    <a:lnR w="9525" cap="flat" cmpd="sng" algn="ctr">
                      <a:solidFill>
                        <a:srgbClr val="C9DEE1"/>
                      </a:solidFill>
                      <a:prstDash val="solid"/>
                      <a:round/>
                      <a:headEnd type="none" w="med" len="med"/>
                      <a:tailEnd type="none" w="med" len="med"/>
                    </a:lnR>
                    <a:lnT w="9525" cap="flat" cmpd="sng" algn="ctr">
                      <a:solidFill>
                        <a:srgbClr val="C9DEE1"/>
                      </a:solidFill>
                      <a:prstDash val="solid"/>
                      <a:round/>
                      <a:headEnd type="none" w="med" len="med"/>
                      <a:tailEnd type="none" w="med" len="med"/>
                    </a:lnT>
                    <a:lnB w="9525" cap="flat" cmpd="sng" algn="ctr">
                      <a:solidFill>
                        <a:srgbClr val="C9DEE1"/>
                      </a:solidFill>
                      <a:prstDash val="solid"/>
                      <a:round/>
                      <a:headEnd type="none" w="med" len="med"/>
                      <a:tailEnd type="none" w="med" len="med"/>
                    </a:lnB>
                  </a:tcPr>
                </a:tc>
                <a:tc>
                  <a:txBody>
                    <a:bodyPr/>
                    <a:lstStyle/>
                    <a:p>
                      <a:pPr indent="0" marL="0">
                        <a:buNone/>
                      </a:pPr>
                      <a:r>
                        <a:rPr lang="en-US" sz="1200" dirty="0">
                          <a:solidFill>
                            <a:schemeClr val="tx1"/>
                          </a:solidFill>
                        </a:rPr>
                        <a:t>Paid Fabric F2+ (or Power BI Premium P1+). Trial doesn't support Copilot.</a:t>
                      </a:r>
                      <a:endParaRPr lang="en-US" sz="1200" dirty="0"/>
                    </a:p>
                  </a:txBody>
                  <a:tcPr marL="91440" marR="91440" marT="45720" marB="45720" anchor="ctr">
                    <a:lnL w="9525" cap="flat" cmpd="sng" algn="ctr">
                      <a:solidFill>
                        <a:srgbClr val="C9DEE1"/>
                      </a:solidFill>
                      <a:prstDash val="solid"/>
                      <a:round/>
                      <a:headEnd type="none" w="med" len="med"/>
                      <a:tailEnd type="none" w="med" len="med"/>
                    </a:lnL>
                    <a:lnR w="9525" cap="flat" cmpd="sng" algn="ctr">
                      <a:solidFill>
                        <a:srgbClr val="C9DEE1"/>
                      </a:solidFill>
                      <a:prstDash val="solid"/>
                      <a:round/>
                      <a:headEnd type="none" w="med" len="med"/>
                      <a:tailEnd type="none" w="med" len="med"/>
                    </a:lnR>
                    <a:lnT w="9525" cap="flat" cmpd="sng" algn="ctr">
                      <a:solidFill>
                        <a:srgbClr val="C9DEE1"/>
                      </a:solidFill>
                      <a:prstDash val="solid"/>
                      <a:round/>
                      <a:headEnd type="none" w="med" len="med"/>
                      <a:tailEnd type="none" w="med" len="med"/>
                    </a:lnT>
                    <a:lnB w="9525" cap="flat" cmpd="sng" algn="ctr">
                      <a:solidFill>
                        <a:srgbClr val="C9DEE1"/>
                      </a:solidFill>
                      <a:prstDash val="solid"/>
                      <a:round/>
                      <a:headEnd type="none" w="med" len="med"/>
                      <a:tailEnd type="none" w="med" len="med"/>
                    </a:lnB>
                  </a:tcPr>
                </a:tc>
              </a:tr>
              <a:tr h="475488">
                <a:tc>
                  <a:txBody>
                    <a:bodyPr/>
                    <a:lstStyle/>
                    <a:p>
                      <a:pPr indent="0" marL="0">
                        <a:buNone/>
                      </a:pPr>
                      <a:r>
                        <a:rPr lang="en-US" sz="1200" dirty="0">
                          <a:solidFill>
                            <a:schemeClr val="tx1"/>
                          </a:solidFill>
                        </a:rPr>
                        <a:t>Tenant settings</a:t>
                      </a:r>
                      <a:endParaRPr lang="en-US" sz="1200" dirty="0"/>
                    </a:p>
                  </a:txBody>
                  <a:tcPr marL="91440" marR="91440" marT="45720" marB="45720" anchor="ctr">
                    <a:lnL w="9525" cap="flat" cmpd="sng" algn="ctr">
                      <a:solidFill>
                        <a:srgbClr val="C9DEE1"/>
                      </a:solidFill>
                      <a:prstDash val="solid"/>
                      <a:round/>
                      <a:headEnd type="none" w="med" len="med"/>
                      <a:tailEnd type="none" w="med" len="med"/>
                    </a:lnL>
                    <a:lnR w="9525" cap="flat" cmpd="sng" algn="ctr">
                      <a:solidFill>
                        <a:srgbClr val="C9DEE1"/>
                      </a:solidFill>
                      <a:prstDash val="solid"/>
                      <a:round/>
                      <a:headEnd type="none" w="med" len="med"/>
                      <a:tailEnd type="none" w="med" len="med"/>
                    </a:lnR>
                    <a:lnT w="9525" cap="flat" cmpd="sng" algn="ctr">
                      <a:solidFill>
                        <a:srgbClr val="C9DEE1"/>
                      </a:solidFill>
                      <a:prstDash val="solid"/>
                      <a:round/>
                      <a:headEnd type="none" w="med" len="med"/>
                      <a:tailEnd type="none" w="med" len="med"/>
                    </a:lnT>
                    <a:lnB w="9525" cap="flat" cmpd="sng" algn="ctr">
                      <a:solidFill>
                        <a:srgbClr val="C9DEE1"/>
                      </a:solidFill>
                      <a:prstDash val="solid"/>
                      <a:round/>
                      <a:headEnd type="none" w="med" len="med"/>
                      <a:tailEnd type="none" w="med" len="med"/>
                    </a:lnB>
                  </a:tcPr>
                </a:tc>
                <a:tc>
                  <a:txBody>
                    <a:bodyPr/>
                    <a:lstStyle/>
                    <a:p>
                      <a:pPr indent="0" marL="0">
                        <a:buNone/>
                      </a:pPr>
                      <a:r>
                        <a:rPr lang="en-US" sz="1200" dirty="0">
                          <a:solidFill>
                            <a:schemeClr val="tx1"/>
                          </a:solidFill>
                        </a:rPr>
                        <a:t>Create Fabric items · Copilot / Azure OpenAI · Ontology (preview) items · Data agent</a:t>
                      </a:r>
                      <a:endParaRPr lang="en-US" sz="1200" dirty="0"/>
                    </a:p>
                  </a:txBody>
                  <a:tcPr marL="91440" marR="91440" marT="45720" marB="45720" anchor="ctr">
                    <a:lnL w="9525" cap="flat" cmpd="sng" algn="ctr">
                      <a:solidFill>
                        <a:srgbClr val="C9DEE1"/>
                      </a:solidFill>
                      <a:prstDash val="solid"/>
                      <a:round/>
                      <a:headEnd type="none" w="med" len="med"/>
                      <a:tailEnd type="none" w="med" len="med"/>
                    </a:lnL>
                    <a:lnR w="9525" cap="flat" cmpd="sng" algn="ctr">
                      <a:solidFill>
                        <a:srgbClr val="C9DEE1"/>
                      </a:solidFill>
                      <a:prstDash val="solid"/>
                      <a:round/>
                      <a:headEnd type="none" w="med" len="med"/>
                      <a:tailEnd type="none" w="med" len="med"/>
                    </a:lnR>
                    <a:lnT w="9525" cap="flat" cmpd="sng" algn="ctr">
                      <a:solidFill>
                        <a:srgbClr val="C9DEE1"/>
                      </a:solidFill>
                      <a:prstDash val="solid"/>
                      <a:round/>
                      <a:headEnd type="none" w="med" len="med"/>
                      <a:tailEnd type="none" w="med" len="med"/>
                    </a:lnT>
                    <a:lnB w="9525" cap="flat" cmpd="sng" algn="ctr">
                      <a:solidFill>
                        <a:srgbClr val="C9DEE1"/>
                      </a:solidFill>
                      <a:prstDash val="solid"/>
                      <a:round/>
                      <a:headEnd type="none" w="med" len="med"/>
                      <a:tailEnd type="none" w="med" len="med"/>
                    </a:lnB>
                  </a:tcPr>
                </a:tc>
              </a:tr>
              <a:tr h="475488">
                <a:tc>
                  <a:txBody>
                    <a:bodyPr/>
                    <a:lstStyle/>
                    <a:p>
                      <a:pPr indent="0" marL="0">
                        <a:buNone/>
                      </a:pPr>
                      <a:r>
                        <a:rPr lang="en-US" sz="1200" dirty="0">
                          <a:solidFill>
                            <a:schemeClr val="tx1"/>
                          </a:solidFill>
                        </a:rPr>
                        <a:t>Data residency</a:t>
                      </a:r>
                      <a:endParaRPr lang="en-US" sz="1200" dirty="0"/>
                    </a:p>
                  </a:txBody>
                  <a:tcPr marL="91440" marR="91440" marT="45720" marB="45720" anchor="ctr">
                    <a:lnL w="9525" cap="flat" cmpd="sng" algn="ctr">
                      <a:solidFill>
                        <a:srgbClr val="C9DEE1"/>
                      </a:solidFill>
                      <a:prstDash val="solid"/>
                      <a:round/>
                      <a:headEnd type="none" w="med" len="med"/>
                      <a:tailEnd type="none" w="med" len="med"/>
                    </a:lnL>
                    <a:lnR w="9525" cap="flat" cmpd="sng" algn="ctr">
                      <a:solidFill>
                        <a:srgbClr val="C9DEE1"/>
                      </a:solidFill>
                      <a:prstDash val="solid"/>
                      <a:round/>
                      <a:headEnd type="none" w="med" len="med"/>
                      <a:tailEnd type="none" w="med" len="med"/>
                    </a:lnR>
                    <a:lnT w="9525" cap="flat" cmpd="sng" algn="ctr">
                      <a:solidFill>
                        <a:srgbClr val="C9DEE1"/>
                      </a:solidFill>
                      <a:prstDash val="solid"/>
                      <a:round/>
                      <a:headEnd type="none" w="med" len="med"/>
                      <a:tailEnd type="none" w="med" len="med"/>
                    </a:lnT>
                    <a:lnB w="9525" cap="flat" cmpd="sng" algn="ctr">
                      <a:solidFill>
                        <a:srgbClr val="C9DEE1"/>
                      </a:solidFill>
                      <a:prstDash val="solid"/>
                      <a:round/>
                      <a:headEnd type="none" w="med" len="med"/>
                      <a:tailEnd type="none" w="med" len="med"/>
                    </a:lnB>
                  </a:tcPr>
                </a:tc>
                <a:tc>
                  <a:txBody>
                    <a:bodyPr/>
                    <a:lstStyle/>
                    <a:p>
                      <a:pPr indent="0" marL="0">
                        <a:buNone/>
                      </a:pPr>
                      <a:r>
                        <a:rPr lang="en-US" sz="1200" dirty="0">
                          <a:solidFill>
                            <a:schemeClr val="tx1"/>
                          </a:solidFill>
                        </a:rPr>
                        <a:t>Review the cross-geography processing setting for AI with compliance before enabling</a:t>
                      </a:r>
                      <a:endParaRPr lang="en-US" sz="1200" dirty="0"/>
                    </a:p>
                  </a:txBody>
                  <a:tcPr marL="91440" marR="91440" marT="45720" marB="45720" anchor="ctr">
                    <a:lnL w="9525" cap="flat" cmpd="sng" algn="ctr">
                      <a:solidFill>
                        <a:srgbClr val="C9DEE1"/>
                      </a:solidFill>
                      <a:prstDash val="solid"/>
                      <a:round/>
                      <a:headEnd type="none" w="med" len="med"/>
                      <a:tailEnd type="none" w="med" len="med"/>
                    </a:lnL>
                    <a:lnR w="9525" cap="flat" cmpd="sng" algn="ctr">
                      <a:solidFill>
                        <a:srgbClr val="C9DEE1"/>
                      </a:solidFill>
                      <a:prstDash val="solid"/>
                      <a:round/>
                      <a:headEnd type="none" w="med" len="med"/>
                      <a:tailEnd type="none" w="med" len="med"/>
                    </a:lnR>
                    <a:lnT w="9525" cap="flat" cmpd="sng" algn="ctr">
                      <a:solidFill>
                        <a:srgbClr val="C9DEE1"/>
                      </a:solidFill>
                      <a:prstDash val="solid"/>
                      <a:round/>
                      <a:headEnd type="none" w="med" len="med"/>
                      <a:tailEnd type="none" w="med" len="med"/>
                    </a:lnT>
                    <a:lnB w="9525" cap="flat" cmpd="sng" algn="ctr">
                      <a:solidFill>
                        <a:srgbClr val="C9DEE1"/>
                      </a:solidFill>
                      <a:prstDash val="solid"/>
                      <a:round/>
                      <a:headEnd type="none" w="med" len="med"/>
                      <a:tailEnd type="none" w="med" len="med"/>
                    </a:lnB>
                  </a:tcPr>
                </a:tc>
              </a:tr>
              <a:tr h="475488">
                <a:tc>
                  <a:txBody>
                    <a:bodyPr/>
                    <a:lstStyle/>
                    <a:p>
                      <a:pPr indent="0" marL="0">
                        <a:buNone/>
                      </a:pPr>
                      <a:r>
                        <a:rPr lang="en-US" sz="1200" dirty="0">
                          <a:solidFill>
                            <a:schemeClr val="tx1"/>
                          </a:solidFill>
                        </a:rPr>
                        <a:t>Status</a:t>
                      </a:r>
                      <a:endParaRPr lang="en-US" sz="1200" dirty="0"/>
                    </a:p>
                  </a:txBody>
                  <a:tcPr marL="91440" marR="91440" marT="45720" marB="45720" anchor="ctr">
                    <a:lnL w="9525" cap="flat" cmpd="sng" algn="ctr">
                      <a:solidFill>
                        <a:srgbClr val="C9DEE1"/>
                      </a:solidFill>
                      <a:prstDash val="solid"/>
                      <a:round/>
                      <a:headEnd type="none" w="med" len="med"/>
                      <a:tailEnd type="none" w="med" len="med"/>
                    </a:lnL>
                    <a:lnR w="9525" cap="flat" cmpd="sng" algn="ctr">
                      <a:solidFill>
                        <a:srgbClr val="C9DEE1"/>
                      </a:solidFill>
                      <a:prstDash val="solid"/>
                      <a:round/>
                      <a:headEnd type="none" w="med" len="med"/>
                      <a:tailEnd type="none" w="med" len="med"/>
                    </a:lnR>
                    <a:lnT w="9525" cap="flat" cmpd="sng" algn="ctr">
                      <a:solidFill>
                        <a:srgbClr val="C9DEE1"/>
                      </a:solidFill>
                      <a:prstDash val="solid"/>
                      <a:round/>
                      <a:headEnd type="none" w="med" len="med"/>
                      <a:tailEnd type="none" w="med" len="med"/>
                    </a:lnT>
                    <a:lnB w="9525" cap="flat" cmpd="sng" algn="ctr">
                      <a:solidFill>
                        <a:srgbClr val="C9DEE1"/>
                      </a:solidFill>
                      <a:prstDash val="solid"/>
                      <a:round/>
                      <a:headEnd type="none" w="med" len="med"/>
                      <a:tailEnd type="none" w="med" len="med"/>
                    </a:lnB>
                  </a:tcPr>
                </a:tc>
                <a:tc>
                  <a:txBody>
                    <a:bodyPr/>
                    <a:lstStyle/>
                    <a:p>
                      <a:pPr indent="0" marL="0">
                        <a:buNone/>
                      </a:pPr>
                      <a:r>
                        <a:rPr lang="en-US" sz="1200" dirty="0">
                          <a:solidFill>
                            <a:schemeClr val="tx1"/>
                          </a:solidFill>
                        </a:rPr>
                        <a:t>OneLake, shortcuts, data agent: GA · Ontology: preview, so steps may change</a:t>
                      </a:r>
                      <a:endParaRPr lang="en-US" sz="1200" dirty="0"/>
                    </a:p>
                  </a:txBody>
                  <a:tcPr marL="91440" marR="91440" marT="45720" marB="45720" anchor="ctr">
                    <a:lnL w="9525" cap="flat" cmpd="sng" algn="ctr">
                      <a:solidFill>
                        <a:srgbClr val="C9DEE1"/>
                      </a:solidFill>
                      <a:prstDash val="solid"/>
                      <a:round/>
                      <a:headEnd type="none" w="med" len="med"/>
                      <a:tailEnd type="none" w="med" len="med"/>
                    </a:lnL>
                    <a:lnR w="9525" cap="flat" cmpd="sng" algn="ctr">
                      <a:solidFill>
                        <a:srgbClr val="C9DEE1"/>
                      </a:solidFill>
                      <a:prstDash val="solid"/>
                      <a:round/>
                      <a:headEnd type="none" w="med" len="med"/>
                      <a:tailEnd type="none" w="med" len="med"/>
                    </a:lnR>
                    <a:lnT w="9525" cap="flat" cmpd="sng" algn="ctr">
                      <a:solidFill>
                        <a:srgbClr val="C9DEE1"/>
                      </a:solidFill>
                      <a:prstDash val="solid"/>
                      <a:round/>
                      <a:headEnd type="none" w="med" len="med"/>
                      <a:tailEnd type="none" w="med" len="med"/>
                    </a:lnT>
                    <a:lnB w="9525" cap="flat" cmpd="sng" algn="ctr">
                      <a:solidFill>
                        <a:srgbClr val="C9DEE1"/>
                      </a:solidFill>
                      <a:prstDash val="solid"/>
                      <a:round/>
                      <a:headEnd type="none" w="med" len="med"/>
                      <a:tailEnd type="none" w="med" len="med"/>
                    </a:lnB>
                  </a:tcPr>
                </a:tc>
              </a:tr>
              <a:tr h="475488">
                <a:tc>
                  <a:txBody>
                    <a:bodyPr/>
                    <a:lstStyle/>
                    <a:p>
                      <a:pPr indent="0" marL="0">
                        <a:buNone/>
                      </a:pPr>
                      <a:r>
                        <a:rPr lang="en-US" sz="1200" dirty="0">
                          <a:solidFill>
                            <a:schemeClr val="tx1"/>
                          </a:solidFill>
                        </a:rPr>
                        <a:t>Governance</a:t>
                      </a:r>
                      <a:endParaRPr lang="en-US" sz="1200" dirty="0"/>
                    </a:p>
                  </a:txBody>
                  <a:tcPr marL="91440" marR="91440" marT="45720" marB="45720" anchor="ctr">
                    <a:lnL w="9525" cap="flat" cmpd="sng" algn="ctr">
                      <a:solidFill>
                        <a:srgbClr val="C9DEE1"/>
                      </a:solidFill>
                      <a:prstDash val="solid"/>
                      <a:round/>
                      <a:headEnd type="none" w="med" len="med"/>
                      <a:tailEnd type="none" w="med" len="med"/>
                    </a:lnL>
                    <a:lnR w="9525" cap="flat" cmpd="sng" algn="ctr">
                      <a:solidFill>
                        <a:srgbClr val="C9DEE1"/>
                      </a:solidFill>
                      <a:prstDash val="solid"/>
                      <a:round/>
                      <a:headEnd type="none" w="med" len="med"/>
                      <a:tailEnd type="none" w="med" len="med"/>
                    </a:lnR>
                    <a:lnT w="9525" cap="flat" cmpd="sng" algn="ctr">
                      <a:solidFill>
                        <a:srgbClr val="C9DEE1"/>
                      </a:solidFill>
                      <a:prstDash val="solid"/>
                      <a:round/>
                      <a:headEnd type="none" w="med" len="med"/>
                      <a:tailEnd type="none" w="med" len="med"/>
                    </a:lnT>
                    <a:lnB w="9525" cap="flat" cmpd="sng" algn="ctr">
                      <a:solidFill>
                        <a:srgbClr val="C9DEE1"/>
                      </a:solidFill>
                      <a:prstDash val="solid"/>
                      <a:round/>
                      <a:headEnd type="none" w="med" len="med"/>
                      <a:tailEnd type="none" w="med" len="med"/>
                    </a:lnB>
                  </a:tcPr>
                </a:tc>
                <a:tc>
                  <a:txBody>
                    <a:bodyPr/>
                    <a:lstStyle/>
                    <a:p>
                      <a:pPr indent="0" marL="0">
                        <a:buNone/>
                      </a:pPr>
                      <a:r>
                        <a:rPr lang="en-US" sz="1200" dirty="0">
                          <a:solidFill>
                            <a:schemeClr val="tx1"/>
                          </a:solidFill>
                        </a:rPr>
                        <a:t>OneLake catalog, Purview labels, workspace roles, endorsed data only for agents</a:t>
                      </a:r>
                      <a:endParaRPr lang="en-US" sz="1200" dirty="0"/>
                    </a:p>
                  </a:txBody>
                  <a:tcPr marL="91440" marR="91440" marT="45720" marB="45720" anchor="ctr">
                    <a:lnL w="9525" cap="flat" cmpd="sng" algn="ctr">
                      <a:solidFill>
                        <a:srgbClr val="C9DEE1"/>
                      </a:solidFill>
                      <a:prstDash val="solid"/>
                      <a:round/>
                      <a:headEnd type="none" w="med" len="med"/>
                      <a:tailEnd type="none" w="med" len="med"/>
                    </a:lnL>
                    <a:lnR w="9525" cap="flat" cmpd="sng" algn="ctr">
                      <a:solidFill>
                        <a:srgbClr val="C9DEE1"/>
                      </a:solidFill>
                      <a:prstDash val="solid"/>
                      <a:round/>
                      <a:headEnd type="none" w="med" len="med"/>
                      <a:tailEnd type="none" w="med" len="med"/>
                    </a:lnR>
                    <a:lnT w="9525" cap="flat" cmpd="sng" algn="ctr">
                      <a:solidFill>
                        <a:srgbClr val="C9DEE1"/>
                      </a:solidFill>
                      <a:prstDash val="solid"/>
                      <a:round/>
                      <a:headEnd type="none" w="med" len="med"/>
                      <a:tailEnd type="none" w="med" len="med"/>
                    </a:lnT>
                    <a:lnB w="9525" cap="flat" cmpd="sng" algn="ctr">
                      <a:solidFill>
                        <a:srgbClr val="C9DE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A suggested path for SATORP</a:t>
            </a:r>
            <a:endParaRPr lang="en-US" sz="2800" dirty="0"/>
          </a:p>
        </p:txBody>
      </p:sp>
      <p:sp>
        <p:nvSpPr>
          <p:cNvPr id="3" name="timeline line"/>
          <p:cNvSpPr/>
          <p:nvPr/>
        </p:nvSpPr>
        <p:spPr>
          <a:xfrm>
            <a:off x="731520" y="1874520"/>
            <a:ext cx="7680960" cy="0"/>
          </a:xfrm>
          <a:prstGeom prst="line">
            <a:avLst/>
          </a:prstGeom>
          <a:noFill/>
          <a:ln w="25400">
            <a:solidFill>
              <a:schemeClr val="accent6"/>
            </a:solidFill>
            <a:prstDash val="solid"/>
          </a:ln>
        </p:spPr>
      </p:sp>
      <p:sp>
        <p:nvSpPr>
          <p:cNvPr id="4" name="phase dot 0"/>
          <p:cNvSpPr/>
          <p:nvPr/>
        </p:nvSpPr>
        <p:spPr>
          <a:xfrm>
            <a:off x="594360" y="1691640"/>
            <a:ext cx="365760" cy="365760"/>
          </a:xfrm>
          <a:prstGeom prst="ellipse">
            <a:avLst/>
          </a:prstGeom>
          <a:solidFill>
            <a:schemeClr val="accent1"/>
          </a:solidFill>
          <a:ln w="25400">
            <a:solidFill>
              <a:schemeClr val="bg1"/>
            </a:solidFill>
            <a:prstDash val="solid"/>
          </a:ln>
        </p:spPr>
      </p:sp>
      <p:sp>
        <p:nvSpPr>
          <p:cNvPr id="5" name="phase name 0"/>
          <p:cNvSpPr txBox="1"/>
          <p:nvPr/>
        </p:nvSpPr>
        <p:spPr>
          <a:xfrm>
            <a:off x="594360" y="1143000"/>
            <a:ext cx="2377440" cy="411480"/>
          </a:xfrm>
          <a:prstGeom prst="rect">
            <a:avLst/>
          </a:prstGeom>
          <a:noFill/>
          <a:ln/>
        </p:spPr>
        <p:txBody>
          <a:bodyPr wrap="square" lIns="0" tIns="0" rIns="0" bIns="0" rtlCol="0" anchor="t"/>
          <a:lstStyle/>
          <a:p>
            <a:pPr indent="0" marL="0">
              <a:buNone/>
            </a:pPr>
            <a:r>
              <a:rPr lang="en-US" sz="1800" b="1" dirty="0">
                <a:solidFill>
                  <a:schemeClr val="tx2"/>
                </a:solidFill>
              </a:rPr>
              <a:t>Phase 1</a:t>
            </a:r>
            <a:endParaRPr lang="en-US" sz="1800" dirty="0"/>
          </a:p>
        </p:txBody>
      </p:sp>
      <p:sp>
        <p:nvSpPr>
          <p:cNvPr id="6" name="phase time 0"/>
          <p:cNvSpPr txBox="1"/>
          <p:nvPr/>
        </p:nvSpPr>
        <p:spPr>
          <a:xfrm>
            <a:off x="594360" y="2194560"/>
            <a:ext cx="2377440" cy="320040"/>
          </a:xfrm>
          <a:prstGeom prst="rect">
            <a:avLst/>
          </a:prstGeom>
          <a:noFill/>
          <a:ln/>
        </p:spPr>
        <p:txBody>
          <a:bodyPr wrap="square" lIns="0" tIns="0" rIns="0" bIns="0" rtlCol="0" anchor="t"/>
          <a:lstStyle/>
          <a:p>
            <a:pPr indent="0" marL="0">
              <a:buNone/>
            </a:pPr>
            <a:r>
              <a:rPr lang="en-US" sz="1300" b="1" dirty="0">
                <a:solidFill>
                  <a:schemeClr val="accent1"/>
                </a:solidFill>
              </a:rPr>
              <a:t>0–3 months</a:t>
            </a:r>
            <a:endParaRPr lang="en-US" sz="1300" dirty="0"/>
          </a:p>
        </p:txBody>
      </p:sp>
      <p:sp>
        <p:nvSpPr>
          <p:cNvPr id="7" name="phase desc 0"/>
          <p:cNvSpPr txBox="1"/>
          <p:nvPr/>
        </p:nvSpPr>
        <p:spPr>
          <a:xfrm>
            <a:off x="594360" y="2560320"/>
            <a:ext cx="2423160" cy="1463040"/>
          </a:xfrm>
          <a:prstGeom prst="rect">
            <a:avLst/>
          </a:prstGeom>
          <a:noFill/>
          <a:ln/>
        </p:spPr>
        <p:txBody>
          <a:bodyPr wrap="square" lIns="0" tIns="0" rIns="0" bIns="0" rtlCol="0" anchor="t"/>
          <a:lstStyle/>
          <a:p>
            <a:pPr indent="0" marL="0">
              <a:buNone/>
            </a:pPr>
            <a:r>
              <a:rPr lang="en-US" sz="1300" dirty="0">
                <a:solidFill>
                  <a:schemeClr val="tx1"/>
                </a:solidFill>
              </a:rPr>
              <a:t>Land priority reliability data in OneLake; shortcuts over existing stores; certified semantic model</a:t>
            </a:r>
            <a:endParaRPr lang="en-US" sz="1300" dirty="0"/>
          </a:p>
        </p:txBody>
      </p:sp>
      <p:sp>
        <p:nvSpPr>
          <p:cNvPr id="8" name="phase dot 1"/>
          <p:cNvSpPr/>
          <p:nvPr/>
        </p:nvSpPr>
        <p:spPr>
          <a:xfrm>
            <a:off x="3383280" y="1691640"/>
            <a:ext cx="365760" cy="365760"/>
          </a:xfrm>
          <a:prstGeom prst="ellipse">
            <a:avLst/>
          </a:prstGeom>
          <a:solidFill>
            <a:schemeClr val="accent1"/>
          </a:solidFill>
          <a:ln w="25400">
            <a:solidFill>
              <a:schemeClr val="bg1"/>
            </a:solidFill>
            <a:prstDash val="solid"/>
          </a:ln>
        </p:spPr>
      </p:sp>
      <p:sp>
        <p:nvSpPr>
          <p:cNvPr id="9" name="phase name 1"/>
          <p:cNvSpPr txBox="1"/>
          <p:nvPr/>
        </p:nvSpPr>
        <p:spPr>
          <a:xfrm>
            <a:off x="3383280" y="1143000"/>
            <a:ext cx="2377440" cy="411480"/>
          </a:xfrm>
          <a:prstGeom prst="rect">
            <a:avLst/>
          </a:prstGeom>
          <a:noFill/>
          <a:ln/>
        </p:spPr>
        <p:txBody>
          <a:bodyPr wrap="square" lIns="0" tIns="0" rIns="0" bIns="0" rtlCol="0" anchor="t"/>
          <a:lstStyle/>
          <a:p>
            <a:pPr indent="0" marL="0">
              <a:buNone/>
            </a:pPr>
            <a:r>
              <a:rPr lang="en-US" sz="1800" b="1" dirty="0">
                <a:solidFill>
                  <a:schemeClr val="tx2"/>
                </a:solidFill>
              </a:rPr>
              <a:t>Phase 2</a:t>
            </a:r>
            <a:endParaRPr lang="en-US" sz="1800" dirty="0"/>
          </a:p>
        </p:txBody>
      </p:sp>
      <p:sp>
        <p:nvSpPr>
          <p:cNvPr id="10" name="phase time 1"/>
          <p:cNvSpPr txBox="1"/>
          <p:nvPr/>
        </p:nvSpPr>
        <p:spPr>
          <a:xfrm>
            <a:off x="3383280" y="2194560"/>
            <a:ext cx="2377440" cy="320040"/>
          </a:xfrm>
          <a:prstGeom prst="rect">
            <a:avLst/>
          </a:prstGeom>
          <a:noFill/>
          <a:ln/>
        </p:spPr>
        <p:txBody>
          <a:bodyPr wrap="square" lIns="0" tIns="0" rIns="0" bIns="0" rtlCol="0" anchor="t"/>
          <a:lstStyle/>
          <a:p>
            <a:pPr indent="0" marL="0">
              <a:buNone/>
            </a:pPr>
            <a:r>
              <a:rPr lang="en-US" sz="1300" b="1" dirty="0">
                <a:solidFill>
                  <a:schemeClr val="accent1"/>
                </a:solidFill>
              </a:rPr>
              <a:t>3–6 months</a:t>
            </a:r>
            <a:endParaRPr lang="en-US" sz="1300" dirty="0"/>
          </a:p>
        </p:txBody>
      </p:sp>
      <p:sp>
        <p:nvSpPr>
          <p:cNvPr id="11" name="phase desc 1"/>
          <p:cNvSpPr txBox="1"/>
          <p:nvPr/>
        </p:nvSpPr>
        <p:spPr>
          <a:xfrm>
            <a:off x="3383280" y="2560320"/>
            <a:ext cx="2423160" cy="1463040"/>
          </a:xfrm>
          <a:prstGeom prst="rect">
            <a:avLst/>
          </a:prstGeom>
          <a:noFill/>
          <a:ln/>
        </p:spPr>
        <p:txBody>
          <a:bodyPr wrap="square" lIns="0" tIns="0" rIns="0" bIns="0" rtlCol="0" anchor="t"/>
          <a:lstStyle/>
          <a:p>
            <a:pPr indent="0" marL="0">
              <a:buNone/>
            </a:pPr>
            <a:r>
              <a:rPr lang="en-US" sz="1300" dirty="0">
                <a:solidFill>
                  <a:schemeClr val="tx1"/>
                </a:solidFill>
              </a:rPr>
              <a:t>Copilot for engineers and analysts; reliability ontology; data agent for a pilot team</a:t>
            </a:r>
            <a:endParaRPr lang="en-US" sz="1300" dirty="0"/>
          </a:p>
        </p:txBody>
      </p:sp>
      <p:sp>
        <p:nvSpPr>
          <p:cNvPr id="12" name="phase dot 2"/>
          <p:cNvSpPr/>
          <p:nvPr/>
        </p:nvSpPr>
        <p:spPr>
          <a:xfrm>
            <a:off x="6172200" y="1691640"/>
            <a:ext cx="365760" cy="365760"/>
          </a:xfrm>
          <a:prstGeom prst="ellipse">
            <a:avLst/>
          </a:prstGeom>
          <a:solidFill>
            <a:schemeClr val="accent3"/>
          </a:solidFill>
          <a:ln w="25400">
            <a:solidFill>
              <a:schemeClr val="bg1"/>
            </a:solidFill>
            <a:prstDash val="solid"/>
          </a:ln>
        </p:spPr>
      </p:sp>
      <p:sp>
        <p:nvSpPr>
          <p:cNvPr id="13" name="phase name 2"/>
          <p:cNvSpPr txBox="1"/>
          <p:nvPr/>
        </p:nvSpPr>
        <p:spPr>
          <a:xfrm>
            <a:off x="6172200" y="1143000"/>
            <a:ext cx="2377440" cy="411480"/>
          </a:xfrm>
          <a:prstGeom prst="rect">
            <a:avLst/>
          </a:prstGeom>
          <a:noFill/>
          <a:ln/>
        </p:spPr>
        <p:txBody>
          <a:bodyPr wrap="square" lIns="0" tIns="0" rIns="0" bIns="0" rtlCol="0" anchor="t"/>
          <a:lstStyle/>
          <a:p>
            <a:pPr indent="0" marL="0">
              <a:buNone/>
            </a:pPr>
            <a:r>
              <a:rPr lang="en-US" sz="1800" b="1" dirty="0">
                <a:solidFill>
                  <a:schemeClr val="tx2"/>
                </a:solidFill>
              </a:rPr>
              <a:t>Phase 3</a:t>
            </a:r>
            <a:endParaRPr lang="en-US" sz="1800" dirty="0"/>
          </a:p>
        </p:txBody>
      </p:sp>
      <p:sp>
        <p:nvSpPr>
          <p:cNvPr id="14" name="phase time 2"/>
          <p:cNvSpPr txBox="1"/>
          <p:nvPr/>
        </p:nvSpPr>
        <p:spPr>
          <a:xfrm>
            <a:off x="6172200" y="2194560"/>
            <a:ext cx="2377440" cy="320040"/>
          </a:xfrm>
          <a:prstGeom prst="rect">
            <a:avLst/>
          </a:prstGeom>
          <a:noFill/>
          <a:ln/>
        </p:spPr>
        <p:txBody>
          <a:bodyPr wrap="square" lIns="0" tIns="0" rIns="0" bIns="0" rtlCol="0" anchor="t"/>
          <a:lstStyle/>
          <a:p>
            <a:pPr indent="0" marL="0">
              <a:buNone/>
            </a:pPr>
            <a:r>
              <a:rPr lang="en-US" sz="1300" b="1" dirty="0">
                <a:solidFill>
                  <a:schemeClr val="accent1"/>
                </a:solidFill>
              </a:rPr>
              <a:t>6–12 months</a:t>
            </a:r>
            <a:endParaRPr lang="en-US" sz="1300" dirty="0"/>
          </a:p>
        </p:txBody>
      </p:sp>
      <p:sp>
        <p:nvSpPr>
          <p:cNvPr id="15" name="phase desc 2"/>
          <p:cNvSpPr txBox="1"/>
          <p:nvPr/>
        </p:nvSpPr>
        <p:spPr>
          <a:xfrm>
            <a:off x="6172200" y="2560320"/>
            <a:ext cx="2423160" cy="1463040"/>
          </a:xfrm>
          <a:prstGeom prst="rect">
            <a:avLst/>
          </a:prstGeom>
          <a:noFill/>
          <a:ln/>
        </p:spPr>
        <p:txBody>
          <a:bodyPr wrap="square" lIns="0" tIns="0" rIns="0" bIns="0" rtlCol="0" anchor="t"/>
          <a:lstStyle/>
          <a:p>
            <a:pPr indent="0" marL="0">
              <a:buNone/>
            </a:pPr>
            <a:r>
              <a:rPr lang="en-US" sz="1300" dirty="0">
                <a:solidFill>
                  <a:schemeClr val="tx1"/>
                </a:solidFill>
              </a:rPr>
              <a:t>Data agent in Teams via Copilot Studio; operations agents on real-time data</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7680960" cy="1463040"/>
          </a:xfrm>
          <a:prstGeom prst="rect">
            <a:avLst/>
          </a:prstGeom>
          <a:noFill/>
          <a:ln/>
        </p:spPr>
        <p:txBody>
          <a:bodyPr wrap="square" lIns="0" tIns="0" rIns="0" bIns="0" rtlCol="0" anchor="b"/>
          <a:lstStyle/>
          <a:p>
            <a:pPr algn="l" indent="0" marL="0">
              <a:buNone/>
            </a:pPr>
            <a:r>
              <a:rPr lang="en-US" sz="4000" b="1" dirty="0">
                <a:solidFill>
                  <a:schemeClr val="bg1"/>
                </a:solidFill>
              </a:rPr>
              <a:t>Let's build it</a:t>
            </a:r>
            <a:endParaRPr lang="en-US" sz="4000" dirty="0"/>
          </a:p>
        </p:txBody>
      </p:sp>
      <p:sp>
        <p:nvSpPr>
          <p:cNvPr id="3" name="Text 0"/>
          <p:cNvSpPr/>
          <p:nvPr>
            <p:ph idx="101" type="body" hasCustomPrompt="1"/>
          </p:nvPr>
        </p:nvSpPr>
        <p:spPr>
          <a:xfrm>
            <a:off x="548640" y="2971800"/>
            <a:ext cx="7680960" cy="914400"/>
          </a:xfrm>
          <a:prstGeom prst="rect">
            <a:avLst/>
          </a:prstGeom>
          <a:noFill/>
          <a:ln/>
        </p:spPr>
        <p:txBody>
          <a:bodyPr wrap="square" lIns="0" tIns="0" rIns="0" bIns="0" rtlCol="0" anchor="t"/>
          <a:lstStyle/>
          <a:p>
            <a:pPr algn="l" indent="0" marL="0">
              <a:buNone/>
            </a:pPr>
            <a:r>
              <a:rPr lang="en-US" sz="1800" dirty="0">
                <a:solidFill>
                  <a:schemeClr val="accent4"/>
                </a:solidFill>
              </a:rPr>
              <a:t>Open the lab guides on GitHub and start with Lab 1: OneLake foundations</a:t>
            </a:r>
            <a:endParaRPr lang="en-US" sz="1800" dirty="0"/>
          </a:p>
        </p:txBody>
      </p:sp>
      <p:sp>
        <p:nvSpPr>
          <p:cNvPr id="4" name="contact"/>
          <p:cNvSpPr txBox="1"/>
          <p:nvPr/>
        </p:nvSpPr>
        <p:spPr>
          <a:xfrm>
            <a:off x="548640" y="4389120"/>
            <a:ext cx="5486400" cy="274320"/>
          </a:xfrm>
          <a:prstGeom prst="rect">
            <a:avLst/>
          </a:prstGeom>
          <a:noFill/>
          <a:ln/>
        </p:spPr>
        <p:txBody>
          <a:bodyPr wrap="square" lIns="0" tIns="0" rIns="0" bIns="0" rtlCol="0" anchor="t"/>
          <a:lstStyle/>
          <a:p>
            <a:pPr indent="0" marL="0">
              <a:buNone/>
            </a:pPr>
            <a:r>
              <a:rPr lang="en-US" sz="1200" dirty="0">
                <a:solidFill>
                  <a:schemeClr val="accent6"/>
                </a:solidFill>
              </a:rPr>
              <a:t>CodeSizzler · info@codesizzler.in · codesizzler.in</a:t>
            </a:r>
            <a:endParaRPr lang="en-US" sz="1200" dirty="0"/>
          </a:p>
        </p:txBody>
      </p:sp>
    </p:spTree>
  </p:cSld>
  <p:clrMapOvr>
    <a:masterClrMapping/>
  </p:clrMapOvr>
</p:sld>
</file>

<file path=ppt/theme/theme1.xml><?xml version="1.0" encoding="utf-8"?>
<a:theme xmlns:a="http://schemas.openxmlformats.org/drawingml/2006/main" name="Refinery Teal">
  <a:themeElements>
    <a:clrScheme name="Refinery Teal">
      <a:dk1>
        <a:srgbClr val="10252B"/>
      </a:dk1>
      <a:lt1>
        <a:srgbClr val="FFFFFF"/>
      </a:lt1>
      <a:dk2>
        <a:srgbClr val="0A2F36"/>
      </a:dk2>
      <a:lt2>
        <a:srgbClr val="EEF5F6"/>
      </a:lt2>
      <a:accent1>
        <a:srgbClr val="0B5C6B"/>
      </a:accent1>
      <a:accent2>
        <a:srgbClr val="2EC4B6"/>
      </a:accent2>
      <a:accent3>
        <a:srgbClr val="F2A541"/>
      </a:accent3>
      <a:accent4>
        <a:srgbClr val="7FE0D6"/>
      </a:accent4>
      <a:accent5>
        <a:srgbClr val="4A6670"/>
      </a:accent5>
      <a:accent6>
        <a:srgbClr val="C9DEE1"/>
      </a:accent6>
      <a:hlink>
        <a:srgbClr val="0B5C6B"/>
      </a:hlink>
      <a:folHlink>
        <a:srgbClr val="4A6670"/>
      </a:folHlink>
    </a:clrScheme>
    <a:fontScheme name="Refinery Te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Fabric with Copilot – OneLake &amp; Fabric IQ for SATORP</dc:title>
  <dc:subject>PptxGenJS Presentation</dc:subject>
  <dc:creator>CodeSizzler</dc:creator>
  <cp:lastModifiedBy>CodeSizzler</cp:lastModifiedBy>
  <cp:revision>1</cp:revision>
  <dcterms:created xsi:type="dcterms:W3CDTF">2026-10-21T17:01:25Z</dcterms:created>
  <dcterms:modified xsi:type="dcterms:W3CDTF">2026-10-21T17:01:25Z</dcterms:modified>
</cp:coreProperties>
</file>